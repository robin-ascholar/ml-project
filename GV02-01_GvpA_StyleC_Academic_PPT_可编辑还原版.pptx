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210312"/>
            <a:ext cx="6903720" cy="4919472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6002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6A64"/>
                </a:solidFill>
                <a:latin typeface="Microsoft YaHei"/>
              </a:rPr>
              <a:t>Cyanobacteria
Protein Design
AI for Life 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6309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B57"/>
                </a:solidFill>
                <a:latin typeface="Microsoft YaHei"/>
              </a:rPr>
              <a:t>蓝藻 GvpA 蛋白序列生成研究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57784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5B57"/>
                </a:solidFill>
                <a:latin typeface="Arial"/>
              </a:rPr>
              <a:t>Cyanobacterial GvpA Protein
Sequence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880360"/>
            <a:ext cx="5120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机器学习综合实践  ·  GV02-01  ·  阶段性汇报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3154680"/>
            <a:ext cx="53949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5716E"/>
                </a:solidFill>
                <a:latin typeface="Arial"/>
              </a:rPr>
              <a:t>Machine Learning Practice  ·  GV02-01  ·  Progress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3611880"/>
            <a:ext cx="5760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44B48"/>
                </a:solidFill>
                <a:latin typeface="Microsoft YaHei"/>
              </a:rPr>
              <a:t>结合生物信息学与生成模型，探索蓝藻气囊蛋白 GvpA 的序列设计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3877056"/>
            <a:ext cx="58978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Combining bioinformatics and generative models for cyanobacterial GvpA sequence design.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62272"/>
            <a:ext cx="228600" cy="22860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443984"/>
            <a:ext cx="13716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B57"/>
                </a:solidFill>
                <a:latin typeface="Arial"/>
              </a:rPr>
              <a:t>Research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645152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生物计算与智能设计组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0" y="4462272"/>
            <a:ext cx="228600" cy="22860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4443984"/>
            <a:ext cx="13716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B57"/>
                </a:solidFill>
                <a:latin typeface="Arial"/>
              </a:rPr>
              <a:t>2024.06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4645152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Lab Meeting</a:t>
            </a:r>
          </a:p>
        </p:txBody>
      </p:sp>
      <p:sp>
        <p:nvSpPr>
          <p:cNvPr id="17" name="Oval 16"/>
          <p:cNvSpPr/>
          <p:nvPr/>
        </p:nvSpPr>
        <p:spPr>
          <a:xfrm>
            <a:off x="4681728" y="4462272"/>
            <a:ext cx="228600" cy="22860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4443984"/>
            <a:ext cx="13716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B57"/>
                </a:solidFill>
                <a:latin typeface="Arial"/>
              </a:rPr>
              <a:t>GV02-01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4645152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Progress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6888" y="1005840"/>
            <a:ext cx="10972800" cy="585216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"/>
            <a:ext cx="768096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6583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研究背景与动机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Biological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58952"/>
            <a:ext cx="6903720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6035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蓝藻气囊蛋白 GvpA 及其应用前景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035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Cyanobacterial GvpA and Its Potential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53312"/>
            <a:ext cx="6080760" cy="43434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481328"/>
            <a:ext cx="5870448" cy="11704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627632"/>
            <a:ext cx="384048" cy="384048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5356"/>
            <a:ext cx="38404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600200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B57"/>
                </a:solidFill>
                <a:latin typeface="Microsoft YaHei"/>
              </a:rPr>
              <a:t>气囊（Gas Vesicles, GVs）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837944"/>
            <a:ext cx="3520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Gas Vesicles in Cyanobacteria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12264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• 蓝藻特有的纳米级气体囊泡结构
• 调节浮力，适应光照与环境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2825496"/>
            <a:ext cx="5870448" cy="11704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49524"/>
            <a:ext cx="38404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B57"/>
                </a:solidFill>
                <a:latin typeface="Microsoft YaHei"/>
              </a:rPr>
              <a:t>GvpA：主要的气囊壳蛋白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182112"/>
            <a:ext cx="3520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GvpA: Major Gas Vesicle Shell Protein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56432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• 构成气囊壳体的主要结构蛋白
• 小而稳定，具有重复序列特征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169664"/>
            <a:ext cx="5870448" cy="11704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93692"/>
            <a:ext cx="38404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288536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B57"/>
                </a:solidFill>
                <a:latin typeface="Microsoft YaHei"/>
              </a:rPr>
              <a:t>生物工程与超声成像应用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526280"/>
            <a:ext cx="3520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Applications in Bioengineering &amp; Ultrasound Imaging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00600"/>
            <a:ext cx="4434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• 可用于合成生物学与生物材料设计
• 作为超声成像对比剂的潜在平台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1325880"/>
            <a:ext cx="4315968" cy="404164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1353312"/>
            <a:ext cx="30175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三大目标 / Three Objectives</a:t>
            </a:r>
          </a:p>
        </p:txBody>
      </p:sp>
      <p:sp>
        <p:nvSpPr>
          <p:cNvPr id="30" name="Oval 29"/>
          <p:cNvSpPr/>
          <p:nvPr/>
        </p:nvSpPr>
        <p:spPr>
          <a:xfrm>
            <a:off x="8138160" y="1581912"/>
            <a:ext cx="1188720" cy="1188720"/>
          </a:xfrm>
          <a:prstGeom prst="ellipse">
            <a:avLst/>
          </a:prstGeom>
          <a:solidFill>
            <a:srgbClr val="EDF6EF"/>
          </a:solidFill>
          <a:ln w="1905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1929384"/>
            <a:ext cx="9509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A47B"/>
                </a:solidFill>
                <a:latin typeface="Microsoft YaHei"/>
              </a:rPr>
              <a:t>约束满足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2176272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5A47B"/>
                </a:solidFill>
                <a:latin typeface="Arial"/>
              </a:rPr>
              <a:t>Validity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505456"/>
            <a:ext cx="113385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Microsoft YaHei"/>
              </a:rPr>
              <a:t>满足生物学与
结构约束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3337560"/>
            <a:ext cx="1188720" cy="1188720"/>
          </a:xfrm>
          <a:prstGeom prst="ellipse">
            <a:avLst/>
          </a:prstGeom>
          <a:solidFill>
            <a:srgbClr val="EDF6EF"/>
          </a:solidFill>
          <a:ln w="1905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3685031"/>
            <a:ext cx="9509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A64"/>
                </a:solidFill>
                <a:latin typeface="Microsoft YaHei"/>
              </a:rPr>
              <a:t>新颖性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9319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Arial"/>
              </a:rPr>
              <a:t>Novelty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4261104"/>
            <a:ext cx="113385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Microsoft YaHei"/>
              </a:rPr>
              <a:t>生成新颖且
非冗余的序列</a:t>
            </a:r>
          </a:p>
        </p:txBody>
      </p:sp>
      <p:sp>
        <p:nvSpPr>
          <p:cNvPr id="38" name="Oval 37"/>
          <p:cNvSpPr/>
          <p:nvPr/>
        </p:nvSpPr>
        <p:spPr>
          <a:xfrm>
            <a:off x="9418319" y="3337560"/>
            <a:ext cx="1188720" cy="1188720"/>
          </a:xfrm>
          <a:prstGeom prst="ellipse">
            <a:avLst/>
          </a:prstGeom>
          <a:solidFill>
            <a:srgbClr val="EDF6EF"/>
          </a:solidFill>
          <a:ln w="1905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7192" y="3685031"/>
            <a:ext cx="9509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765B"/>
                </a:solidFill>
                <a:latin typeface="Microsoft YaHei"/>
              </a:rPr>
              <a:t>多样性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393192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2765B"/>
                </a:solidFill>
                <a:latin typeface="Arial"/>
              </a:rPr>
              <a:t>Diversity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4261104"/>
            <a:ext cx="1133856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Microsoft YaHei"/>
              </a:rPr>
              <a:t>覆盖更广的
序列空间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001000" y="2788920"/>
            <a:ext cx="731520" cy="594360"/>
          </a:xfrm>
          <a:prstGeom prst="line">
            <a:avLst/>
          </a:prstGeom>
          <a:ln w="1524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32520" y="2788920"/>
            <a:ext cx="731520" cy="594360"/>
          </a:xfrm>
          <a:prstGeom prst="line">
            <a:avLst/>
          </a:prstGeom>
          <a:ln w="1524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92440" y="3931920"/>
            <a:ext cx="1280160" cy="0"/>
          </a:xfrm>
          <a:prstGeom prst="line">
            <a:avLst/>
          </a:prstGeom>
          <a:ln w="1524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029968" y="5650992"/>
            <a:ext cx="6812280" cy="512064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FB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5733288"/>
            <a:ext cx="6355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765B"/>
                </a:solidFill>
                <a:latin typeface="Microsoft YaHei"/>
              </a:rPr>
              <a:t>核心挑战：在保持生物学约束的同时生成新颖且多样的序列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5934456"/>
            <a:ext cx="649224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Core challenge: generate novel and diverse sequences while preserving biological constraints.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" y="1078992"/>
            <a:ext cx="11475720" cy="539496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530352"/>
            <a:ext cx="822960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7132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研究问题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Research Questions (RQ1–RQ3)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61288"/>
            <a:ext cx="781811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我们希望通过生成模型回答以下三个核心问题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6949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We aim to answer the following three key questions through generative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783080"/>
            <a:ext cx="7726679" cy="38862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874519"/>
            <a:ext cx="5230368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11679"/>
            <a:ext cx="676656" cy="603504"/>
          </a:xfrm>
          <a:prstGeom prst="round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57984"/>
            <a:ext cx="676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029967"/>
            <a:ext cx="3931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5B57"/>
                </a:solidFill>
                <a:latin typeface="Microsoft YaHei"/>
              </a:rPr>
              <a:t>哪种生成策略更能保持 GvpA 生物学约束？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33172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Which generation strategy better preserves GvpA constraints?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874519"/>
            <a:ext cx="2148840" cy="100584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312" y="2011679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4456" y="198424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993391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结构与功能约束</a:t>
            </a:r>
          </a:p>
        </p:txBody>
      </p:sp>
      <p:sp>
        <p:nvSpPr>
          <p:cNvPr id="19" name="Oval 18"/>
          <p:cNvSpPr/>
          <p:nvPr/>
        </p:nvSpPr>
        <p:spPr>
          <a:xfrm>
            <a:off x="5925312" y="227685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224942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258568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关键氨基酸保守性</a:t>
            </a:r>
          </a:p>
        </p:txBody>
      </p:sp>
      <p:sp>
        <p:nvSpPr>
          <p:cNvPr id="22" name="Oval 21"/>
          <p:cNvSpPr/>
          <p:nvPr/>
        </p:nvSpPr>
        <p:spPr>
          <a:xfrm>
            <a:off x="5925312" y="2542032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2514600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523744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可行的生物物理性质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108960"/>
            <a:ext cx="5230368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676656" cy="603504"/>
          </a:xfrm>
          <a:prstGeom prst="round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92424"/>
            <a:ext cx="676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264408"/>
            <a:ext cx="3931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5B57"/>
                </a:solidFill>
                <a:latin typeface="Microsoft YaHei"/>
              </a:rPr>
              <a:t>如何平衡约束满足、新颖性与多样性？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56616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How to balance validity, novelty, and diversity?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108960"/>
            <a:ext cx="2148840" cy="100584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25312" y="324612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34456" y="321868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227832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满足生物约束（Validity）</a:t>
            </a:r>
          </a:p>
        </p:txBody>
      </p:sp>
      <p:sp>
        <p:nvSpPr>
          <p:cNvPr id="34" name="Oval 33"/>
          <p:cNvSpPr/>
          <p:nvPr/>
        </p:nvSpPr>
        <p:spPr>
          <a:xfrm>
            <a:off x="5925312" y="351129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34456" y="348386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493008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具有新颖性（Novelty）</a:t>
            </a:r>
          </a:p>
        </p:txBody>
      </p:sp>
      <p:sp>
        <p:nvSpPr>
          <p:cNvPr id="37" name="Oval 36"/>
          <p:cNvSpPr/>
          <p:nvPr/>
        </p:nvSpPr>
        <p:spPr>
          <a:xfrm>
            <a:off x="5925312" y="3776471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34456" y="3749039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758183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保持序列多样性（Diversity）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4343400"/>
            <a:ext cx="5230368" cy="1005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4480560"/>
            <a:ext cx="676656" cy="603504"/>
          </a:xfrm>
          <a:prstGeom prst="round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26864"/>
            <a:ext cx="676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RQ3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4752" y="4498848"/>
            <a:ext cx="3931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5B57"/>
                </a:solidFill>
                <a:latin typeface="Microsoft YaHei"/>
              </a:rPr>
              <a:t>生成序列是否真正学习到真实 GvpA 的分布？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4752" y="480060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Do generated sequences capture the real GvpA distribution?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4343400"/>
            <a:ext cx="2148840" cy="100584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25312" y="4480559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34456" y="44531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4462272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分布相似性评估</a:t>
            </a:r>
          </a:p>
        </p:txBody>
      </p:sp>
      <p:sp>
        <p:nvSpPr>
          <p:cNvPr id="49" name="Oval 48"/>
          <p:cNvSpPr/>
          <p:nvPr/>
        </p:nvSpPr>
        <p:spPr>
          <a:xfrm>
            <a:off x="5925312" y="474573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34456" y="471830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4727448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泛化到未见序列</a:t>
            </a:r>
          </a:p>
        </p:txBody>
      </p:sp>
      <p:sp>
        <p:nvSpPr>
          <p:cNvPr id="52" name="Oval 51"/>
          <p:cNvSpPr/>
          <p:nvPr/>
        </p:nvSpPr>
        <p:spPr>
          <a:xfrm>
            <a:off x="5925312" y="5010912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34456" y="4983480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4992624"/>
            <a:ext cx="15636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4B48"/>
                </a:solidFill>
                <a:latin typeface="Microsoft YaHei"/>
              </a:rPr>
              <a:t>避免模式坍缩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1600200"/>
            <a:ext cx="3063240" cy="416052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2520" y="1636776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B57"/>
                </a:solidFill>
                <a:latin typeface="Microsoft YaHei"/>
              </a:rPr>
              <a:t>项目目标 / Project Objectives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32520" y="2039112"/>
            <a:ext cx="2670048" cy="9326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869680" y="2203704"/>
            <a:ext cx="347472" cy="347472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2286000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06A64"/>
                </a:solidFill>
                <a:latin typeface="Arial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2185416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构建高质量 GvpA 数据集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54312" y="245973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716E"/>
                </a:solidFill>
                <a:latin typeface="Arial"/>
              </a:rPr>
              <a:t>Build a high-quality GvpA dataset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3227832"/>
            <a:ext cx="2670048" cy="9326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869680" y="3392424"/>
            <a:ext cx="347472" cy="347472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3474720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06A64"/>
                </a:solidFill>
                <a:latin typeface="Arial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54312" y="3374136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比较不同生成模型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54312" y="364845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716E"/>
                </a:solidFill>
                <a:latin typeface="Arial"/>
              </a:rPr>
              <a:t>Compare different generative models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20" y="4416552"/>
            <a:ext cx="2670048" cy="93268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869680" y="4581144"/>
            <a:ext cx="347472" cy="347472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4663440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06A64"/>
                </a:solidFill>
                <a:latin typeface="Arial"/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54312" y="4562856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构建统一的评估体系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54312" y="4837176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716E"/>
                </a:solidFill>
                <a:latin typeface="Arial"/>
              </a:rPr>
              <a:t>Construct a unified evaluator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484632"/>
            <a:ext cx="813816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70408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题目要求与当前进度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Requirement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69848"/>
            <a:ext cx="7635240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52144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将题目要求分解为可执行的里程碑，并跟踪当前完成情况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67665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Map the project requirements to actionable milestones and track our progress.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11384280" cy="4800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691640"/>
            <a:ext cx="384048" cy="384048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792224"/>
            <a:ext cx="384048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048256"/>
            <a:ext cx="1883664" cy="22311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212848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问题定义与数据构建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606040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5716E"/>
                </a:solidFill>
                <a:latin typeface="Arial"/>
              </a:rPr>
              <a:t>Problem &amp; Data Definition</a:t>
            </a:r>
          </a:p>
        </p:txBody>
      </p:sp>
      <p:sp>
        <p:nvSpPr>
          <p:cNvPr id="14" name="Oval 13"/>
          <p:cNvSpPr/>
          <p:nvPr/>
        </p:nvSpPr>
        <p:spPr>
          <a:xfrm>
            <a:off x="603503" y="31089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30815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090672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明确研究问题</a:t>
            </a:r>
          </a:p>
        </p:txBody>
      </p:sp>
      <p:sp>
        <p:nvSpPr>
          <p:cNvPr id="17" name="Oval 16"/>
          <p:cNvSpPr/>
          <p:nvPr/>
        </p:nvSpPr>
        <p:spPr>
          <a:xfrm>
            <a:off x="603503" y="34381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34107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19856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构建 GvpA 数据集</a:t>
            </a:r>
          </a:p>
        </p:txBody>
      </p:sp>
      <p:sp>
        <p:nvSpPr>
          <p:cNvPr id="20" name="Oval 19"/>
          <p:cNvSpPr/>
          <p:nvPr/>
        </p:nvSpPr>
        <p:spPr>
          <a:xfrm>
            <a:off x="603503" y="37673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" y="37398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749039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数据预处理与划分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79976"/>
            <a:ext cx="1481328" cy="292608"/>
          </a:xfrm>
          <a:prstGeom prst="round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11980"/>
            <a:ext cx="13898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Microsoft YaHei"/>
              </a:rPr>
              <a:t>已完成 Done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40864" y="1874519"/>
            <a:ext cx="274320" cy="0"/>
          </a:xfrm>
          <a:prstGeom prst="line">
            <a:avLst/>
          </a:prstGeom>
          <a:ln w="1905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346704" y="1691640"/>
            <a:ext cx="384048" cy="384048"/>
          </a:xfrm>
          <a:prstGeom prst="ellipse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46704" y="1792224"/>
            <a:ext cx="384048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2048256"/>
            <a:ext cx="1883664" cy="22311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2212848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探索性数据分析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606040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5716E"/>
                </a:solidFill>
                <a:latin typeface="Arial"/>
              </a:rPr>
              <a:t>Exploratory Analysis</a:t>
            </a:r>
          </a:p>
        </p:txBody>
      </p:sp>
      <p:sp>
        <p:nvSpPr>
          <p:cNvPr id="31" name="Oval 30"/>
          <p:cNvSpPr/>
          <p:nvPr/>
        </p:nvSpPr>
        <p:spPr>
          <a:xfrm>
            <a:off x="2816352" y="31089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5496" y="30815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B995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3090672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序列统计分析</a:t>
            </a:r>
          </a:p>
        </p:txBody>
      </p:sp>
      <p:sp>
        <p:nvSpPr>
          <p:cNvPr id="34" name="Oval 33"/>
          <p:cNvSpPr/>
          <p:nvPr/>
        </p:nvSpPr>
        <p:spPr>
          <a:xfrm>
            <a:off x="2816352" y="34381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5496" y="34107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B995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5808" y="3419856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可视化与模式发现</a:t>
            </a:r>
          </a:p>
        </p:txBody>
      </p:sp>
      <p:sp>
        <p:nvSpPr>
          <p:cNvPr id="37" name="Oval 36"/>
          <p:cNvSpPr/>
          <p:nvPr/>
        </p:nvSpPr>
        <p:spPr>
          <a:xfrm>
            <a:off x="2816352" y="37673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25496" y="37398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B995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3749039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生物学特征分析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52928" y="4379976"/>
            <a:ext cx="1481328" cy="292608"/>
          </a:xfrm>
          <a:prstGeom prst="round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98648" y="4411980"/>
            <a:ext cx="13898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Microsoft YaHei"/>
              </a:rPr>
              <a:t>基本完成 Mostly done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53712" y="1874519"/>
            <a:ext cx="274319" cy="0"/>
          </a:xfrm>
          <a:prstGeom prst="line">
            <a:avLst/>
          </a:prstGeom>
          <a:ln w="1905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559552" y="1691640"/>
            <a:ext cx="384048" cy="384048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9552" y="1792224"/>
            <a:ext cx="384048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64608" y="2048256"/>
            <a:ext cx="1883664" cy="22311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80" y="2212848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基线与简单生成模型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2606040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5716E"/>
                </a:solidFill>
                <a:latin typeface="Arial"/>
              </a:rPr>
              <a:t>Baseline + Simple Models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0" y="31089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38344" y="30815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48656" y="3090672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基线方法实现</a:t>
            </a:r>
          </a:p>
        </p:txBody>
      </p:sp>
      <p:sp>
        <p:nvSpPr>
          <p:cNvPr id="51" name="Oval 50"/>
          <p:cNvSpPr/>
          <p:nvPr/>
        </p:nvSpPr>
        <p:spPr>
          <a:xfrm>
            <a:off x="5029200" y="34381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38344" y="34107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48656" y="3419856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简单生成模型</a:t>
            </a:r>
          </a:p>
        </p:txBody>
      </p:sp>
      <p:sp>
        <p:nvSpPr>
          <p:cNvPr id="54" name="Oval 53"/>
          <p:cNvSpPr/>
          <p:nvPr/>
        </p:nvSpPr>
        <p:spPr>
          <a:xfrm>
            <a:off x="5029200" y="37673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37398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8656" y="3749039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初步结果分析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65776" y="4379976"/>
            <a:ext cx="1481328" cy="292608"/>
          </a:xfrm>
          <a:prstGeom prst="round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11496" y="4411980"/>
            <a:ext cx="13898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Microsoft YaHei"/>
              </a:rPr>
              <a:t>基本完成 Basically done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66560" y="1874519"/>
            <a:ext cx="274320" cy="0"/>
          </a:xfrm>
          <a:prstGeom prst="line">
            <a:avLst/>
          </a:prstGeom>
          <a:ln w="1905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1792224"/>
            <a:ext cx="384048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77456" y="2048256"/>
            <a:ext cx="1883664" cy="22311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96328" y="2212848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完整实验与权衡分析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96328" y="2606040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5716E"/>
                </a:solidFill>
                <a:latin typeface="Arial"/>
              </a:rPr>
              <a:t>Full Experiments &amp; Trade-off</a:t>
            </a:r>
          </a:p>
        </p:txBody>
      </p:sp>
      <p:sp>
        <p:nvSpPr>
          <p:cNvPr id="65" name="Oval 64"/>
          <p:cNvSpPr/>
          <p:nvPr/>
        </p:nvSpPr>
        <p:spPr>
          <a:xfrm>
            <a:off x="7242048" y="31089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51192" y="30815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61504" y="3090672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多模型实验比较</a:t>
            </a:r>
          </a:p>
        </p:txBody>
      </p:sp>
      <p:sp>
        <p:nvSpPr>
          <p:cNvPr id="68" name="Oval 67"/>
          <p:cNvSpPr/>
          <p:nvPr/>
        </p:nvSpPr>
        <p:spPr>
          <a:xfrm>
            <a:off x="7242048" y="34381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51192" y="34107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61504" y="3419856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新颖性-多样性权衡</a:t>
            </a:r>
          </a:p>
        </p:txBody>
      </p:sp>
      <p:sp>
        <p:nvSpPr>
          <p:cNvPr id="71" name="Oval 70"/>
          <p:cNvSpPr/>
          <p:nvPr/>
        </p:nvSpPr>
        <p:spPr>
          <a:xfrm>
            <a:off x="7242048" y="37673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51192" y="37398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1504" y="3749039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深入结果分析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8624" y="4379976"/>
            <a:ext cx="1481328" cy="292608"/>
          </a:xfrm>
          <a:prstGeom prst="round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24344" y="4411980"/>
            <a:ext cx="13898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Microsoft YaHei"/>
              </a:rPr>
              <a:t>进行中 In progress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979408" y="1874519"/>
            <a:ext cx="274320" cy="0"/>
          </a:xfrm>
          <a:prstGeom prst="line">
            <a:avLst/>
          </a:prstGeom>
          <a:ln w="1905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985248" y="1691640"/>
            <a:ext cx="384048" cy="384048"/>
          </a:xfrm>
          <a:prstGeom prst="ellipse">
            <a:avLst/>
          </a:prstGeom>
          <a:solidFill>
            <a:srgbClr val="9BAAA4"/>
          </a:solidFill>
          <a:ln w="12700">
            <a:solidFill>
              <a:srgbClr val="9B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85248" y="1792224"/>
            <a:ext cx="384048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90304" y="2048256"/>
            <a:ext cx="1883664" cy="223113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09176" y="2212848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最终报告与展示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09176" y="2606040"/>
            <a:ext cx="1645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5716E"/>
                </a:solidFill>
                <a:latin typeface="Arial"/>
              </a:rPr>
              <a:t>Final Report</a:t>
            </a:r>
          </a:p>
        </p:txBody>
      </p:sp>
      <p:sp>
        <p:nvSpPr>
          <p:cNvPr id="82" name="Oval 81"/>
          <p:cNvSpPr/>
          <p:nvPr/>
        </p:nvSpPr>
        <p:spPr>
          <a:xfrm>
            <a:off x="9454896" y="31089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64040" y="30815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AA4"/>
                </a:solidFill>
                <a:latin typeface="Microsoft YaHei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74352" y="3090672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完整实验结果</a:t>
            </a:r>
          </a:p>
        </p:txBody>
      </p:sp>
      <p:sp>
        <p:nvSpPr>
          <p:cNvPr id="85" name="Oval 84"/>
          <p:cNvSpPr/>
          <p:nvPr/>
        </p:nvSpPr>
        <p:spPr>
          <a:xfrm>
            <a:off x="9454896" y="34381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64040" y="34107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AA4"/>
                </a:solidFill>
                <a:latin typeface="Microsoft YaHe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74352" y="3419856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撰写论文/报告</a:t>
            </a:r>
          </a:p>
        </p:txBody>
      </p:sp>
      <p:sp>
        <p:nvSpPr>
          <p:cNvPr id="88" name="Oval 87"/>
          <p:cNvSpPr/>
          <p:nvPr/>
        </p:nvSpPr>
        <p:spPr>
          <a:xfrm>
            <a:off x="9454896" y="37673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64040" y="37398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BAAA4"/>
                </a:solidFill>
                <a:latin typeface="Microsoft YaHe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74352" y="3749039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准备答辩与展示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91472" y="4379976"/>
            <a:ext cx="1481328" cy="292608"/>
          </a:xfrm>
          <a:prstGeom prst="roundRect">
            <a:avLst/>
          </a:prstGeom>
          <a:solidFill>
            <a:srgbClr val="9BAAA4"/>
          </a:solidFill>
          <a:ln w="12700">
            <a:solidFill>
              <a:srgbClr val="9BA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537192" y="4411980"/>
            <a:ext cx="13898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Microsoft YaHei"/>
              </a:rPr>
              <a:t>待开始 Upcoming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" y="491947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05B57"/>
                </a:solidFill>
                <a:latin typeface="Microsoft YaHei"/>
              </a:rPr>
              <a:t>题目具体要求（GV02-01）/ Key Requirements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2920" y="5266944"/>
            <a:ext cx="2011680" cy="5303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2648" y="535838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Microsoft YaHei"/>
              </a:rPr>
              <a:t>1  基线生成方法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2648" y="5559552"/>
            <a:ext cx="1783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716E"/>
                </a:solidFill>
                <a:latin typeface="Arial"/>
              </a:rPr>
              <a:t>Baseline generation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15768" y="5266944"/>
            <a:ext cx="2011680" cy="5303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25496" y="535838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Microsoft YaHei"/>
              </a:rPr>
              <a:t>2  至少两种深度生成模型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25496" y="5559552"/>
            <a:ext cx="1783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716E"/>
                </a:solidFill>
                <a:latin typeface="Arial"/>
              </a:rPr>
              <a:t>At least two deep models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928616" y="5266944"/>
            <a:ext cx="2011680" cy="5303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38344" y="535838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Microsoft YaHei"/>
              </a:rPr>
              <a:t>3  多指标评估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38344" y="5559552"/>
            <a:ext cx="1783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716E"/>
                </a:solidFill>
                <a:latin typeface="Arial"/>
              </a:rPr>
              <a:t>Validity · novelty · diversity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41464" y="5266944"/>
            <a:ext cx="2011680" cy="5303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51192" y="535838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Microsoft YaHei"/>
              </a:rPr>
              <a:t>4  嵌入空间分析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51192" y="5559552"/>
            <a:ext cx="178308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716E"/>
                </a:solidFill>
                <a:latin typeface="Arial"/>
              </a:rPr>
              <a:t>Embedding-space analysis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555480" y="4956048"/>
            <a:ext cx="1828800" cy="84124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74352" y="5138928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5B57"/>
                </a:solidFill>
                <a:latin typeface="Microsoft YaHei"/>
              </a:rPr>
              <a:t>当前位于 M3–M4 之间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74352" y="5404104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5716E"/>
                </a:solidFill>
                <a:latin typeface="Arial"/>
              </a:rPr>
              <a:t>Current position: between M3 and M4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7" y="137159"/>
            <a:ext cx="786384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" y="320040"/>
            <a:ext cx="67665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数据构建与划分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Dataset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7" y="758952"/>
            <a:ext cx="781811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41248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构建高质量的蓝藻 GvpA 蛋白序列数据集，用于生成与评估研究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078992"/>
            <a:ext cx="6949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Build a high-quality cyanobacterial GvpA protein dataset for generation and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426464"/>
            <a:ext cx="10716768" cy="504748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2852928" cy="42336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24231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B57"/>
                </a:solidFill>
                <a:latin typeface="Microsoft YaHei"/>
              </a:rPr>
              <a:t>最终冻结数据集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5716E"/>
                </a:solidFill>
                <a:latin typeface="Arial"/>
              </a:rPr>
              <a:t>Final Frozen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24028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6A64"/>
                </a:solidFill>
                <a:latin typeface="Arial"/>
              </a:rPr>
              <a:t>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72968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5B57"/>
                </a:solidFill>
                <a:latin typeface="Microsoft YaHei"/>
              </a:rPr>
              <a:t>高质量蓝藻 GvpA 序列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456432"/>
            <a:ext cx="22128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high-quality cyanobacterial
GvpA sequences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343400"/>
            <a:ext cx="1993392" cy="29260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ED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375404"/>
            <a:ext cx="190195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Microsoft YaHei"/>
              </a:rPr>
              <a:t>来自 54 个蓝藻物种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718304"/>
            <a:ext cx="179222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55716E"/>
                </a:solidFill>
                <a:latin typeface="Microsoft YaHei"/>
              </a:rPr>
              <a:t>覆盖 5 个主要属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992624"/>
            <a:ext cx="226771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From 54 cyanobacterial species
covering 5 major genera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1517904"/>
            <a:ext cx="3822191" cy="42336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5615" y="1682496"/>
            <a:ext cx="336499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5B57"/>
                </a:solidFill>
                <a:latin typeface="Microsoft YaHei"/>
              </a:rPr>
              <a:t>数据划分 / Dataset Split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2240280"/>
            <a:ext cx="612648" cy="612648"/>
          </a:xfrm>
          <a:prstGeom prst="ellipse">
            <a:avLst/>
          </a:prstGeom>
          <a:solidFill>
            <a:srgbClr val="EDF6EF"/>
          </a:solidFill>
          <a:ln w="1778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414016"/>
            <a:ext cx="6126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5A47B"/>
                </a:solidFill>
                <a:latin typeface="Arial"/>
              </a:rPr>
              <a:t>139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999232"/>
            <a:ext cx="10698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训练集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46120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465576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35A47B"/>
                </a:solidFill>
                <a:latin typeface="Arial"/>
              </a:rPr>
              <a:t>(84%)</a:t>
            </a:r>
          </a:p>
        </p:txBody>
      </p:sp>
      <p:sp>
        <p:nvSpPr>
          <p:cNvPr id="26" name="Oval 25"/>
          <p:cNvSpPr/>
          <p:nvPr/>
        </p:nvSpPr>
        <p:spPr>
          <a:xfrm>
            <a:off x="5138928" y="2240280"/>
            <a:ext cx="612648" cy="612648"/>
          </a:xfrm>
          <a:prstGeom prst="ellipse">
            <a:avLst/>
          </a:prstGeom>
          <a:solidFill>
            <a:srgbClr val="EDF6EF"/>
          </a:solidFill>
          <a:ln w="1778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2414016"/>
            <a:ext cx="6126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6B995"/>
                </a:solidFill>
                <a:latin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2999232"/>
            <a:ext cx="10698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验证集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246120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465576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66B995"/>
                </a:solidFill>
                <a:latin typeface="Arial"/>
              </a:rPr>
              <a:t>(8%)</a:t>
            </a:r>
          </a:p>
        </p:txBody>
      </p:sp>
      <p:sp>
        <p:nvSpPr>
          <p:cNvPr id="31" name="Oval 30"/>
          <p:cNvSpPr/>
          <p:nvPr/>
        </p:nvSpPr>
        <p:spPr>
          <a:xfrm>
            <a:off x="6254496" y="2240280"/>
            <a:ext cx="612648" cy="612648"/>
          </a:xfrm>
          <a:prstGeom prst="ellipse">
            <a:avLst/>
          </a:prstGeom>
          <a:solidFill>
            <a:srgbClr val="EDF6EF"/>
          </a:solidFill>
          <a:ln w="1778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2414016"/>
            <a:ext cx="6126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765B"/>
                </a:solidFill>
                <a:latin typeface="Arial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5896" y="2999232"/>
            <a:ext cx="10698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测试集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5896" y="3246120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55716E"/>
                </a:solidFill>
                <a:latin typeface="Arial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5896" y="3465576"/>
            <a:ext cx="10698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F2765B"/>
                </a:solidFill>
                <a:latin typeface="Arial"/>
              </a:rPr>
              <a:t>(8%)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6472" y="3941063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用于模型训练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941063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用于模型选择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7608" y="3941063"/>
            <a:ext cx="1051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用于最终评估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912" y="4718304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数据来源 / Data Sources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22191" y="5120640"/>
            <a:ext cx="694944" cy="29260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ED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7911" y="515264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B57"/>
                </a:solidFill>
                <a:latin typeface="Microsoft YaHei"/>
              </a:rPr>
              <a:t>NCBI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54296" y="5120640"/>
            <a:ext cx="694944" cy="29260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ED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0016" y="515264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B57"/>
                </a:solidFill>
                <a:latin typeface="Microsoft YaHei"/>
              </a:rPr>
              <a:t>UniProt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5120640"/>
            <a:ext cx="694944" cy="29260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ED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515264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B57"/>
                </a:solidFill>
                <a:latin typeface="Microsoft YaHei"/>
              </a:rPr>
              <a:t>JGI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18504" y="5120640"/>
            <a:ext cx="694944" cy="29260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ED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5152644"/>
            <a:ext cx="60350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B57"/>
                </a:solidFill>
                <a:latin typeface="Microsoft YaHei"/>
              </a:rPr>
              <a:t>Literature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1517904"/>
            <a:ext cx="3383280" cy="42336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5552" y="1682496"/>
            <a:ext cx="288036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05B57"/>
                </a:solidFill>
                <a:latin typeface="Microsoft YaHei"/>
              </a:rPr>
              <a:t>数据质量控制 / Quality Control</a:t>
            </a:r>
          </a:p>
        </p:txBody>
      </p:sp>
      <p:sp>
        <p:nvSpPr>
          <p:cNvPr id="50" name="Oval 49"/>
          <p:cNvSpPr/>
          <p:nvPr/>
        </p:nvSpPr>
        <p:spPr>
          <a:xfrm>
            <a:off x="7827264" y="2267712"/>
            <a:ext cx="338328" cy="33832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27264" y="2331720"/>
            <a:ext cx="33832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2249424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多源核验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2468880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5716E"/>
                </a:solidFill>
                <a:latin typeface="Arial"/>
              </a:rPr>
              <a:t>Multi-source 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2706624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整合公共数据库，交叉验证序列注释</a:t>
            </a:r>
          </a:p>
        </p:txBody>
      </p:sp>
      <p:sp>
        <p:nvSpPr>
          <p:cNvPr id="55" name="Oval 54"/>
          <p:cNvSpPr/>
          <p:nvPr/>
        </p:nvSpPr>
        <p:spPr>
          <a:xfrm>
            <a:off x="7827264" y="3273552"/>
            <a:ext cx="338328" cy="33832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27264" y="3337560"/>
            <a:ext cx="33832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2752" y="3255264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去冗余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3474720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5716E"/>
                </a:solidFill>
                <a:latin typeface="Arial"/>
              </a:rPr>
              <a:t>De-duplication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2752" y="3712464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去除高度相似序列，保留代表性序列</a:t>
            </a:r>
          </a:p>
        </p:txBody>
      </p:sp>
      <p:sp>
        <p:nvSpPr>
          <p:cNvPr id="60" name="Oval 59"/>
          <p:cNvSpPr/>
          <p:nvPr/>
        </p:nvSpPr>
        <p:spPr>
          <a:xfrm>
            <a:off x="7827264" y="4279392"/>
            <a:ext cx="338328" cy="33832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27264" y="4343400"/>
            <a:ext cx="33832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02752" y="4261104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防泄漏划分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4480559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5716E"/>
                </a:solidFill>
                <a:latin typeface="Arial"/>
              </a:rPr>
              <a:t>Leakage-aware split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2752" y="4718304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基于序列家族的感知划分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7" y="146303"/>
            <a:ext cx="914400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" y="329184"/>
            <a:ext cx="80467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生成与评估流程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Generation &amp; Evaluation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7" y="768096"/>
            <a:ext cx="827531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50392"/>
            <a:ext cx="7406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从高质量的真实序列出发，生成新序列并进行多维度评估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088136"/>
            <a:ext cx="7406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From curated real sequences to novel generation and comprehensive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1201400" cy="5102352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90472"/>
            <a:ext cx="1664208" cy="3493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" y="1591056"/>
            <a:ext cx="347472" cy="347472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67335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609344"/>
            <a:ext cx="107899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数据准备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01952"/>
            <a:ext cx="14447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Curated Sequences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12848" y="3063240"/>
            <a:ext cx="301752" cy="0"/>
          </a:xfrm>
          <a:prstGeom prst="line">
            <a:avLst/>
          </a:prstGeom>
          <a:ln w="1905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87752" y="1490472"/>
            <a:ext cx="1664208" cy="3493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60904" y="1591056"/>
            <a:ext cx="347472" cy="347472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0904" y="167335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1609344"/>
            <a:ext cx="107899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序列表示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901952"/>
            <a:ext cx="14447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Tokenization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0" y="3063240"/>
            <a:ext cx="301752" cy="0"/>
          </a:xfrm>
          <a:prstGeom prst="line">
            <a:avLst/>
          </a:prstGeom>
          <a:ln w="1905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00016" y="1490472"/>
            <a:ext cx="1682496" cy="3493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73168" y="1591056"/>
            <a:ext cx="347472" cy="347472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167335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609344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生成模型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1901952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Generative Models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28231" y="3063240"/>
            <a:ext cx="301752" cy="0"/>
          </a:xfrm>
          <a:prstGeom prst="line">
            <a:avLst/>
          </a:prstGeom>
          <a:ln w="1905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12280" y="1490472"/>
            <a:ext cx="1682496" cy="3493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85432" y="1591056"/>
            <a:ext cx="347472" cy="347472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67335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1609344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生成序列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1901952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Generated FASTA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40496" y="3063240"/>
            <a:ext cx="301752" cy="0"/>
          </a:xfrm>
          <a:prstGeom prst="line">
            <a:avLst/>
          </a:prstGeom>
          <a:ln w="1905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15400" y="1490472"/>
            <a:ext cx="2084831" cy="34930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88552" y="1591056"/>
            <a:ext cx="347472" cy="347472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1673352"/>
            <a:ext cx="34747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1609344"/>
            <a:ext cx="1499615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统一评估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1901952"/>
            <a:ext cx="18653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Unified Evaluator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386584"/>
            <a:ext cx="131673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6A64"/>
                </a:solidFill>
                <a:latin typeface="Arial"/>
              </a:rPr>
              <a:t>165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2880360"/>
            <a:ext cx="120700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Microsoft YaHei"/>
              </a:rPr>
              <a:t>高质量真实序列
high-quality real sequences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3538728"/>
            <a:ext cx="1335024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244B48"/>
                </a:solidFill>
                <a:latin typeface="Courier New"/>
              </a:rPr>
              <a:t>&gt;Nostoc_sp._GvpA
MTAQDTVKQATLA...
NTSVDTVKQAVDI...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8064" y="2487168"/>
            <a:ext cx="1234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B57"/>
                </a:solidFill>
                <a:latin typeface="Microsoft YaHei"/>
              </a:rPr>
              <a:t>氨基酸级别编码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1488" y="2734056"/>
            <a:ext cx="1307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5716E"/>
                </a:solidFill>
                <a:latin typeface="Arial"/>
              </a:rPr>
              <a:t>AA-level tokenization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3145536"/>
            <a:ext cx="1234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B57"/>
                </a:solidFill>
                <a:latin typeface="Microsoft YaHei"/>
              </a:rPr>
              <a:t>k-mer 特征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61488" y="3392424"/>
            <a:ext cx="1307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5716E"/>
                </a:solidFill>
                <a:latin typeface="Arial"/>
              </a:rPr>
              <a:t>k-mer representations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8064" y="3803904"/>
            <a:ext cx="12344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B57"/>
                </a:solidFill>
                <a:latin typeface="Microsoft YaHei"/>
              </a:rPr>
              <a:t>序列长度处理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1488" y="4050791"/>
            <a:ext cx="13075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5716E"/>
                </a:solidFill>
                <a:latin typeface="Arial"/>
              </a:rPr>
              <a:t>Sequence padding</a:t>
            </a:r>
          </a:p>
        </p:txBody>
      </p:sp>
      <p:sp>
        <p:nvSpPr>
          <p:cNvPr id="47" name="Oval 46"/>
          <p:cNvSpPr/>
          <p:nvPr/>
        </p:nvSpPr>
        <p:spPr>
          <a:xfrm>
            <a:off x="4873752" y="2276856"/>
            <a:ext cx="256032" cy="256032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9512" y="225856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Arial"/>
              </a:rPr>
              <a:t>AA-frequency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459736"/>
            <a:ext cx="9326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Microsoft YaHei"/>
              </a:rPr>
              <a:t>基于氨基酸频率</a:t>
            </a:r>
          </a:p>
        </p:txBody>
      </p:sp>
      <p:sp>
        <p:nvSpPr>
          <p:cNvPr id="50" name="Oval 49"/>
          <p:cNvSpPr/>
          <p:nvPr/>
        </p:nvSpPr>
        <p:spPr>
          <a:xfrm>
            <a:off x="4873752" y="2871216"/>
            <a:ext cx="256032" cy="256032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9512" y="285292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Arial"/>
              </a:rPr>
              <a:t>k-mer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3054096"/>
            <a:ext cx="9326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Microsoft YaHei"/>
              </a:rPr>
              <a:t>基于局部 k-mer</a:t>
            </a:r>
          </a:p>
        </p:txBody>
      </p:sp>
      <p:sp>
        <p:nvSpPr>
          <p:cNvPr id="53" name="Oval 52"/>
          <p:cNvSpPr/>
          <p:nvPr/>
        </p:nvSpPr>
        <p:spPr>
          <a:xfrm>
            <a:off x="4873752" y="3465576"/>
            <a:ext cx="256032" cy="256032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9512" y="34472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Arial"/>
              </a:rPr>
              <a:t>LSTM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3648456"/>
            <a:ext cx="9326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Microsoft YaHei"/>
              </a:rPr>
              <a:t>循环神经网络</a:t>
            </a:r>
          </a:p>
        </p:txBody>
      </p:sp>
      <p:sp>
        <p:nvSpPr>
          <p:cNvPr id="56" name="Oval 55"/>
          <p:cNvSpPr/>
          <p:nvPr/>
        </p:nvSpPr>
        <p:spPr>
          <a:xfrm>
            <a:off x="4873752" y="4059936"/>
            <a:ext cx="256032" cy="256032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39512" y="404164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05B57"/>
                </a:solidFill>
                <a:latin typeface="Arial"/>
              </a:rPr>
              <a:t>VAE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9512" y="4242816"/>
            <a:ext cx="9326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Microsoft YaHei"/>
              </a:rPr>
              <a:t>变分自编码器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31736" y="2286000"/>
            <a:ext cx="1261872" cy="2057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244B48"/>
                </a:solidFill>
                <a:latin typeface="Courier New"/>
              </a:rPr>
              <a:t>&gt;generated_001
MTAQDTVKQATL...
&gt;generated_002
NTSVDTVRQAVD...
&gt;generated_003
MGAGDTVKQKVDA...</a:t>
            </a:r>
          </a:p>
        </p:txBody>
      </p:sp>
      <p:sp>
        <p:nvSpPr>
          <p:cNvPr id="60" name="Oval 59"/>
          <p:cNvSpPr/>
          <p:nvPr/>
        </p:nvSpPr>
        <p:spPr>
          <a:xfrm>
            <a:off x="9144000" y="227685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53144" y="224942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6" y="225856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有效性 / 生物学约束</a:t>
            </a:r>
          </a:p>
        </p:txBody>
      </p:sp>
      <p:sp>
        <p:nvSpPr>
          <p:cNvPr id="63" name="Oval 62"/>
          <p:cNvSpPr/>
          <p:nvPr/>
        </p:nvSpPr>
        <p:spPr>
          <a:xfrm>
            <a:off x="9144000" y="277977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53144" y="275234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3456" y="276148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新颖性</a:t>
            </a:r>
          </a:p>
        </p:txBody>
      </p:sp>
      <p:sp>
        <p:nvSpPr>
          <p:cNvPr id="66" name="Oval 65"/>
          <p:cNvSpPr/>
          <p:nvPr/>
        </p:nvSpPr>
        <p:spPr>
          <a:xfrm>
            <a:off x="9144000" y="328269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53144" y="325526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3456" y="326440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多样性</a:t>
            </a:r>
          </a:p>
        </p:txBody>
      </p:sp>
      <p:sp>
        <p:nvSpPr>
          <p:cNvPr id="69" name="Oval 68"/>
          <p:cNvSpPr/>
          <p:nvPr/>
        </p:nvSpPr>
        <p:spPr>
          <a:xfrm>
            <a:off x="9144000" y="3785615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53144" y="375818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B995"/>
                </a:solidFill>
                <a:latin typeface="Microsoft YaHe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63456" y="376732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长度分布</a:t>
            </a:r>
          </a:p>
        </p:txBody>
      </p:sp>
      <p:sp>
        <p:nvSpPr>
          <p:cNvPr id="72" name="Oval 71"/>
          <p:cNvSpPr/>
          <p:nvPr/>
        </p:nvSpPr>
        <p:spPr>
          <a:xfrm>
            <a:off x="9144000" y="428853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53144" y="426110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6" y="4270248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44B48"/>
                </a:solidFill>
                <a:latin typeface="Microsoft YaHei"/>
              </a:rPr>
              <a:t>嵌入分布</a:t>
            </a:r>
          </a:p>
        </p:txBody>
      </p:sp>
      <p:sp>
        <p:nvSpPr>
          <p:cNvPr id="75" name="Oval 74"/>
          <p:cNvSpPr/>
          <p:nvPr/>
        </p:nvSpPr>
        <p:spPr>
          <a:xfrm>
            <a:off x="2075688" y="5330952"/>
            <a:ext cx="320040" cy="32004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14600" y="5285232"/>
            <a:ext cx="1097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765B"/>
                </a:solidFill>
                <a:latin typeface="Arial"/>
              </a:rPr>
              <a:t>Generate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14600" y="551383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生成新序列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630168" y="5468112"/>
            <a:ext cx="301752" cy="0"/>
          </a:xfrm>
          <a:prstGeom prst="line">
            <a:avLst/>
          </a:prstGeom>
          <a:ln w="1778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105656" y="5330952"/>
            <a:ext cx="320040" cy="320040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44568" y="5285232"/>
            <a:ext cx="1097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A47B"/>
                </a:solidFill>
                <a:latin typeface="Arial"/>
              </a:rPr>
              <a:t>Evaluate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44568" y="551383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多维度评估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60136" y="5468112"/>
            <a:ext cx="301752" cy="0"/>
          </a:xfrm>
          <a:prstGeom prst="line">
            <a:avLst/>
          </a:prstGeom>
          <a:ln w="1778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6135624" y="5330952"/>
            <a:ext cx="320040" cy="320040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74536" y="5285232"/>
            <a:ext cx="1097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6A64"/>
                </a:solidFill>
                <a:latin typeface="Arial"/>
              </a:rPr>
              <a:t>Compare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74536" y="551383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方法对比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690104" y="5468112"/>
            <a:ext cx="301752" cy="0"/>
          </a:xfrm>
          <a:prstGeom prst="line">
            <a:avLst/>
          </a:prstGeom>
          <a:ln w="17780">
            <a:solidFill>
              <a:srgbClr val="D8E7D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165592" y="5330952"/>
            <a:ext cx="320040" cy="32004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04504" y="5285232"/>
            <a:ext cx="1097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765B"/>
                </a:solidFill>
                <a:latin typeface="Arial"/>
              </a:rPr>
              <a:t>Improve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04504" y="5513832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4B48"/>
                </a:solidFill>
                <a:latin typeface="Microsoft YaHei"/>
              </a:rPr>
              <a:t>迭代优化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328" y="219456"/>
            <a:ext cx="658368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54864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基线结果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Baseline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50392"/>
            <a:ext cx="5897880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与简单序列生成基线方法的性能比较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Comparison with simple sequence generation baselines.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44752"/>
            <a:ext cx="11173968" cy="50292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554480"/>
            <a:ext cx="5623560" cy="449884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2976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关键指标对比 / Key Metrics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65960"/>
            <a:ext cx="5276088" cy="3383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60120" y="4617720"/>
            <a:ext cx="4617720" cy="0"/>
          </a:xfrm>
          <a:prstGeom prst="line">
            <a:avLst/>
          </a:prstGeom>
          <a:ln w="1270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" y="2331720"/>
            <a:ext cx="0" cy="2286000"/>
          </a:xfrm>
          <a:prstGeom prst="line">
            <a:avLst/>
          </a:prstGeom>
          <a:ln w="1270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25295" y="3546226"/>
            <a:ext cx="256032" cy="1071493"/>
          </a:xfrm>
          <a:prstGeom prst="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326770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5A47B"/>
                </a:solidFill>
                <a:latin typeface="Arial"/>
              </a:rPr>
              <a:t>0.558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91055" y="3215944"/>
            <a:ext cx="256032" cy="1401775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1" y="2996488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2765B"/>
                </a:solidFill>
                <a:latin typeface="Arial"/>
              </a:rPr>
              <a:t>0.730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754880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Nearest-train
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42615" y="4617720"/>
            <a:ext cx="256032" cy="22860"/>
          </a:xfrm>
          <a:prstGeom prst="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4398264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5A47B"/>
                </a:solidFill>
                <a:latin typeface="Arial"/>
              </a:rPr>
              <a:t>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4617720"/>
            <a:ext cx="256032" cy="22860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4398264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2765B"/>
                </a:solidFill>
                <a:latin typeface="Arial"/>
              </a:rPr>
              <a:t>0.00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1" y="4754880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Exact copy
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9936" y="2697479"/>
            <a:ext cx="256032" cy="1920240"/>
          </a:xfrm>
          <a:prstGeom prst="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2478024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5A47B"/>
                </a:solidFill>
                <a:latin typeface="Arial"/>
              </a:rPr>
              <a:t>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25696" y="2697479"/>
            <a:ext cx="256032" cy="1920240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2478024"/>
            <a:ext cx="54864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2765B"/>
                </a:solidFill>
                <a:latin typeface="Arial"/>
              </a:rPr>
              <a:t>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4754880"/>
            <a:ext cx="1005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Unique sequence
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2029968"/>
            <a:ext cx="3429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■ AA-frequency baseline    ■ k-mer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54480"/>
            <a:ext cx="5413248" cy="449884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1645920"/>
            <a:ext cx="31089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详细结果 / Detailed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1965960"/>
            <a:ext cx="4800600" cy="2066543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130552"/>
            <a:ext cx="1554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B57"/>
                </a:solidFill>
                <a:latin typeface="Arial"/>
              </a:rPr>
              <a:t>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30552"/>
            <a:ext cx="10241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B57"/>
                </a:solidFill>
                <a:latin typeface="Arial"/>
              </a:rPr>
              <a:t>Nearest-train
identity 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130552"/>
            <a:ext cx="822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B57"/>
                </a:solidFill>
                <a:latin typeface="Arial"/>
              </a:rPr>
              <a:t>Exact copy
rate 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6" y="2130552"/>
            <a:ext cx="8412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B57"/>
                </a:solidFill>
                <a:latin typeface="Arial"/>
              </a:rPr>
              <a:t>Unique ratio 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5392" y="2651760"/>
            <a:ext cx="4590288" cy="54864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2697480"/>
            <a:ext cx="1554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44B48"/>
                </a:solidFill>
                <a:latin typeface="Arial"/>
              </a:rPr>
              <a:t>AA-frequency
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697480"/>
            <a:ext cx="10241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0.558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2697480"/>
            <a:ext cx="822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2697480"/>
            <a:ext cx="8412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1.00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65392" y="3291840"/>
            <a:ext cx="4590288" cy="548640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337560"/>
            <a:ext cx="1554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k-mer baseline
(local regularity)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337560"/>
            <a:ext cx="10241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0.730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3337560"/>
            <a:ext cx="822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7856" y="3337560"/>
            <a:ext cx="84124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44B48"/>
                </a:solidFill>
                <a:latin typeface="Arial"/>
              </a:rPr>
              <a:t>1.00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73952" y="4279392"/>
            <a:ext cx="4800600" cy="12252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425696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05B57"/>
                </a:solidFill>
                <a:latin typeface="Microsoft YaHei"/>
              </a:rPr>
              <a:t>主要结论 / Key Takeaways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0" y="477316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474573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4576" y="4754880"/>
            <a:ext cx="40325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k-mer baseline learns more local sequence regularity than random composition sampling.</a:t>
            </a:r>
          </a:p>
        </p:txBody>
      </p:sp>
      <p:sp>
        <p:nvSpPr>
          <p:cNvPr id="52" name="Oval 51"/>
          <p:cNvSpPr/>
          <p:nvPr/>
        </p:nvSpPr>
        <p:spPr>
          <a:xfrm>
            <a:off x="6675120" y="520293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84264" y="517550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5184648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No direct copying observed.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328" y="201167"/>
            <a:ext cx="685800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7607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模型方法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LSTM 与 VAE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32104"/>
            <a:ext cx="6720840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5852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两种生成模型的结构设计与特点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52144"/>
            <a:ext cx="58521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Model architectures and characteristics for sequence generation.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11018520" cy="5056632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5321808" cy="4133087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5120640" cy="292608"/>
          </a:xfrm>
          <a:prstGeom prst="roundRect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77924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LSTM（自回归模型）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0253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LSTM Autoregressive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96312"/>
            <a:ext cx="65836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96896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Arial"/>
              </a:rPr>
              <a:t>&lt;BOS&gt;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" y="2697480"/>
            <a:ext cx="292608" cy="0"/>
          </a:xfrm>
          <a:prstGeom prst="line">
            <a:avLst/>
          </a:prstGeom>
          <a:ln w="1778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47088" y="2496312"/>
            <a:ext cx="65836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2596896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Arial"/>
              </a:rPr>
              <a:t>hₜ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1778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44368" y="2496312"/>
            <a:ext cx="65836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596896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Arial"/>
              </a:rPr>
              <a:t>hₜ₊₁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30168" y="2697480"/>
            <a:ext cx="420624" cy="0"/>
          </a:xfrm>
          <a:prstGeom prst="line">
            <a:avLst/>
          </a:prstGeom>
          <a:ln w="1778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96512" y="2496312"/>
            <a:ext cx="65836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596896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Arial"/>
              </a:rPr>
              <a:t>hₜ₊₂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3063240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5B57"/>
                </a:solidFill>
                <a:latin typeface="Arial"/>
              </a:rPr>
              <a:t>M          T          A          Q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" y="351129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48386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493008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Autoregressive decoding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3721608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Generate one token at a time from left to right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" y="41239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0965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105656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Captures local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" y="4334256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Models conditional probability p(xₜ | x&lt;ₜ)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4736592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709160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4718304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Simple baseline deep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" y="4946904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Strong and widely-used sequence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1536192"/>
            <a:ext cx="5303520" cy="4133087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45936" y="1645920"/>
            <a:ext cx="5102352" cy="292608"/>
          </a:xfrm>
          <a:prstGeom prst="round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1677924"/>
            <a:ext cx="50109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VAE（变分自编码器）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2002536"/>
            <a:ext cx="3520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5716E"/>
                </a:solidFill>
                <a:latin typeface="Arial"/>
              </a:rPr>
              <a:t>Variational Autoencoder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19672" y="2450592"/>
            <a:ext cx="1097280" cy="676656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2596896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5B57"/>
                </a:solidFill>
                <a:latin typeface="Arial"/>
              </a:rPr>
              <a:t>Encoder
q(z|x)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0768" y="2450592"/>
            <a:ext cx="685800" cy="676656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2596896"/>
            <a:ext cx="6858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5B57"/>
                </a:solidFill>
                <a:latin typeface="Arial"/>
              </a:rPr>
              <a:t>z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93808" y="2450592"/>
            <a:ext cx="1097280" cy="676656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93808" y="2596896"/>
            <a:ext cx="10972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5B57"/>
                </a:solidFill>
                <a:latin typeface="Arial"/>
              </a:rPr>
              <a:t>Decoder
p(x|z)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53527" y="2788920"/>
            <a:ext cx="713233" cy="0"/>
          </a:xfrm>
          <a:prstGeom prst="line">
            <a:avLst/>
          </a:prstGeom>
          <a:ln w="19050">
            <a:solidFill>
              <a:srgbClr val="F2765B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62288" y="2788920"/>
            <a:ext cx="667512" cy="0"/>
          </a:xfrm>
          <a:prstGeom prst="line">
            <a:avLst/>
          </a:prstGeom>
          <a:ln w="19050">
            <a:solidFill>
              <a:srgbClr val="F2765B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75904" y="2240280"/>
            <a:ext cx="7863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5716E"/>
                </a:solidFill>
                <a:latin typeface="Arial"/>
              </a:rPr>
              <a:t>N(0,1)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3182112"/>
            <a:ext cx="43251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5B57"/>
                </a:solidFill>
                <a:latin typeface="Arial"/>
              </a:rPr>
              <a:t>M  T  A  Q      →      M  T  A  Q</a:t>
            </a:r>
          </a:p>
        </p:txBody>
      </p:sp>
      <p:sp>
        <p:nvSpPr>
          <p:cNvPr id="51" name="Oval 50"/>
          <p:cNvSpPr/>
          <p:nvPr/>
        </p:nvSpPr>
        <p:spPr>
          <a:xfrm>
            <a:off x="6492240" y="351129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3" y="348386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3493008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Latent-space modeling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721608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Map sequences to a continuous latent space</a:t>
            </a:r>
          </a:p>
        </p:txBody>
      </p:sp>
      <p:sp>
        <p:nvSpPr>
          <p:cNvPr id="55" name="Oval 54"/>
          <p:cNvSpPr/>
          <p:nvPr/>
        </p:nvSpPr>
        <p:spPr>
          <a:xfrm>
            <a:off x="6492240" y="412394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1383" y="409651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4105656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Diversity-friendly generation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4334256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Sample in latent space to generate diverse sequences</a:t>
            </a:r>
          </a:p>
        </p:txBody>
      </p:sp>
      <p:sp>
        <p:nvSpPr>
          <p:cNvPr id="59" name="Oval 58"/>
          <p:cNvSpPr/>
          <p:nvPr/>
        </p:nvSpPr>
        <p:spPr>
          <a:xfrm>
            <a:off x="6492240" y="4736592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01383" y="4709160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11696" y="4718304"/>
            <a:ext cx="43068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4B48"/>
                </a:solidFill>
                <a:latin typeface="Microsoft YaHei"/>
              </a:rPr>
              <a:t>Continuous representation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4946904"/>
            <a:ext cx="43708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Learn compact and smooth sequence representations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80360" y="5833872"/>
            <a:ext cx="6446520" cy="384048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54096" y="5925312"/>
            <a:ext cx="6080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5B57"/>
                </a:solidFill>
                <a:latin typeface="Arial"/>
              </a:rPr>
              <a:t>Shared tokenizer, dataloader, checkpointing and FASTA generation interface.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328" y="228600"/>
            <a:ext cx="8046719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6949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GPU 烟雾测试结果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GPU Smoke-test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59536"/>
            <a:ext cx="772667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941832"/>
            <a:ext cx="6858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在小规模数据集上验证训练与生成流程的可行性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79576"/>
            <a:ext cx="6858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Verify the training and generation pipeline on a small subset of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99616"/>
            <a:ext cx="11109960" cy="4974336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3401568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3072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新颖性 ↑ / Novelty 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" y="3557016"/>
            <a:ext cx="2761488" cy="0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568013" y="2376982"/>
            <a:ext cx="310896" cy="1180033"/>
          </a:xfrm>
          <a:prstGeom prst="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4861" y="214838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Arial"/>
              </a:rPr>
              <a:t>0.89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421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2499" y="2350465"/>
            <a:ext cx="310896" cy="1206550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9347" y="2121865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Arial"/>
              </a:rPr>
              <a:t>0.91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7907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VAE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572768"/>
            <a:ext cx="3401568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1691640"/>
            <a:ext cx="3072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唯一性比例 ↑ / Unique ratio 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3557016"/>
            <a:ext cx="2761488" cy="0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61605" y="2323947"/>
            <a:ext cx="310896" cy="1233068"/>
          </a:xfrm>
          <a:prstGeom prst="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8453" y="2095347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Arial"/>
              </a:rPr>
              <a:t>0.93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7013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LSTM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6091" y="2310688"/>
            <a:ext cx="310896" cy="1246327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2939" y="208208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Arial"/>
              </a:rPr>
              <a:t>0.94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1499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VAE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4112" y="1572768"/>
            <a:ext cx="3401568" cy="2468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1691640"/>
            <a:ext cx="30723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长度通过率 ↑ / Length pass rate 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65592" y="3557016"/>
            <a:ext cx="2761488" cy="0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755197" y="3331616"/>
            <a:ext cx="310896" cy="225399"/>
          </a:xfrm>
          <a:prstGeom prst="rect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2045" y="3103016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Arial"/>
              </a:rPr>
              <a:t>0.17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0605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LSTM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09683" y="3318357"/>
            <a:ext cx="310896" cy="238658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6531" y="3089757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Arial"/>
              </a:rPr>
              <a:t>0.18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5091" y="3630168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44B48"/>
                </a:solidFill>
                <a:latin typeface="Arial"/>
              </a:rPr>
              <a:t>VAE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270248"/>
            <a:ext cx="5230368" cy="1536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398264"/>
            <a:ext cx="44805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05B57"/>
                </a:solidFill>
                <a:latin typeface="Microsoft YaHei"/>
              </a:rPr>
              <a:t>训练损失曲线（示例）/ Training Loss Curve (Example)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3271" y="5440680"/>
            <a:ext cx="4361689" cy="0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3271" y="4736592"/>
            <a:ext cx="0" cy="704088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97280" y="4828032"/>
            <a:ext cx="822960" cy="182880"/>
          </a:xfrm>
          <a:prstGeom prst="line">
            <a:avLst/>
          </a:prstGeom>
          <a:ln w="19050">
            <a:solidFill>
              <a:srgbClr val="006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920240" y="5010912"/>
            <a:ext cx="822960" cy="137160"/>
          </a:xfrm>
          <a:prstGeom prst="line">
            <a:avLst/>
          </a:prstGeom>
          <a:ln w="19050">
            <a:solidFill>
              <a:srgbClr val="006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43200" y="5148072"/>
            <a:ext cx="914400" cy="82296"/>
          </a:xfrm>
          <a:prstGeom prst="line">
            <a:avLst/>
          </a:prstGeom>
          <a:ln w="19050">
            <a:solidFill>
              <a:srgbClr val="006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57600" y="5230368"/>
            <a:ext cx="914400" cy="54864"/>
          </a:xfrm>
          <a:prstGeom prst="line">
            <a:avLst/>
          </a:prstGeom>
          <a:ln w="19050">
            <a:solidFill>
              <a:srgbClr val="006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" y="5285232"/>
            <a:ext cx="731520" cy="36576"/>
          </a:xfrm>
          <a:prstGeom prst="line">
            <a:avLst/>
          </a:prstGeom>
          <a:ln w="19050">
            <a:solidFill>
              <a:srgbClr val="006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97280" y="4773168"/>
            <a:ext cx="822960" cy="192024"/>
          </a:xfrm>
          <a:prstGeom prst="line">
            <a:avLst/>
          </a:prstGeom>
          <a:ln w="19050">
            <a:solidFill>
              <a:srgbClr val="F2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0240" y="4965192"/>
            <a:ext cx="822960" cy="128016"/>
          </a:xfrm>
          <a:prstGeom prst="line">
            <a:avLst/>
          </a:prstGeom>
          <a:ln w="19050">
            <a:solidFill>
              <a:srgbClr val="F2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43200" y="5093208"/>
            <a:ext cx="914400" cy="82296"/>
          </a:xfrm>
          <a:prstGeom prst="line">
            <a:avLst/>
          </a:prstGeom>
          <a:ln w="19050">
            <a:solidFill>
              <a:srgbClr val="F2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657600" y="5175504"/>
            <a:ext cx="914400" cy="64008"/>
          </a:xfrm>
          <a:prstGeom prst="line">
            <a:avLst/>
          </a:prstGeom>
          <a:ln w="19050">
            <a:solidFill>
              <a:srgbClr val="F2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0" y="5239512"/>
            <a:ext cx="731520" cy="27432"/>
          </a:xfrm>
          <a:prstGeom prst="line">
            <a:avLst/>
          </a:prstGeom>
          <a:ln w="19050">
            <a:solidFill>
              <a:srgbClr val="F2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63440" y="4718304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6A64"/>
                </a:solidFill>
                <a:latin typeface="Arial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919472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2765B"/>
                </a:solidFill>
                <a:latin typeface="Arial"/>
              </a:rPr>
              <a:t>VAE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5504688"/>
            <a:ext cx="14630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Training steps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16752" y="4270248"/>
            <a:ext cx="2761488" cy="1536192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4462272"/>
            <a:ext cx="23225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5B57"/>
                </a:solidFill>
                <a:latin typeface="Microsoft YaHei"/>
              </a:rPr>
              <a:t>GPU 训练 / 生成流程已验证；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800600"/>
            <a:ext cx="234086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44B48"/>
                </a:solidFill>
                <a:latin typeface="Microsoft YaHei"/>
              </a:rPr>
              <a:t>当前结果为烟雾测试，尚非最终实验结果。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4496" y="5248656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GPU pipeline verified; current results are smoke tests rather than final experiments.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696" y="4270248"/>
            <a:ext cx="2157984" cy="1536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98864" y="4434840"/>
            <a:ext cx="17556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05B57"/>
                </a:solidFill>
                <a:latin typeface="Microsoft YaHei"/>
              </a:rPr>
              <a:t>实验设置 / Setup</a:t>
            </a:r>
          </a:p>
        </p:txBody>
      </p:sp>
      <p:sp>
        <p:nvSpPr>
          <p:cNvPr id="59" name="Oval 58"/>
          <p:cNvSpPr/>
          <p:nvPr/>
        </p:nvSpPr>
        <p:spPr>
          <a:xfrm>
            <a:off x="9153144" y="4791455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62288" y="476402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773168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44B48"/>
                </a:solidFill>
                <a:latin typeface="Microsoft YaHei"/>
              </a:rPr>
              <a:t>小规模数据集（~5K 序列）</a:t>
            </a:r>
          </a:p>
        </p:txBody>
      </p:sp>
      <p:sp>
        <p:nvSpPr>
          <p:cNvPr id="62" name="Oval 61"/>
          <p:cNvSpPr/>
          <p:nvPr/>
        </p:nvSpPr>
        <p:spPr>
          <a:xfrm>
            <a:off x="9153144" y="51389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62288" y="51114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5120640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44B48"/>
                </a:solidFill>
                <a:latin typeface="Microsoft YaHei"/>
              </a:rPr>
              <a:t>相同的预处理与评估指标</a:t>
            </a:r>
          </a:p>
        </p:txBody>
      </p:sp>
      <p:sp>
        <p:nvSpPr>
          <p:cNvPr id="65" name="Oval 64"/>
          <p:cNvSpPr/>
          <p:nvPr/>
        </p:nvSpPr>
        <p:spPr>
          <a:xfrm>
            <a:off x="9153144" y="548640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62288" y="545896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2600" y="5468112"/>
            <a:ext cx="160934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44B48"/>
                </a:solidFill>
                <a:latin typeface="Microsoft YaHei"/>
              </a:rPr>
              <a:t>主要用于验证流程可行性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328" y="182880"/>
            <a:ext cx="713232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60350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瓶颈与误差分析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Failure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786384"/>
            <a:ext cx="827531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7406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分析生成结果中的常见问题，定位影响生成质量的关键因素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06424"/>
            <a:ext cx="7406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Analyze common issues in generated sequences and identify key factors affecting generation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064240" cy="5102352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17904"/>
            <a:ext cx="2926080" cy="15727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82496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765B"/>
                </a:solidFill>
                <a:latin typeface="Microsoft YaHei"/>
              </a:rPr>
              <a:t>1  过早结束（Early &lt;EOS&gt;）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" y="210312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7568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084831"/>
            <a:ext cx="22037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生成序列在开头即输出 &lt;EOS&gt;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350008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Model generates &lt;EOS&gt; too early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" y="265176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2432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2633472"/>
            <a:ext cx="21579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导致空序列或极短序列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10128"/>
            <a:ext cx="2926080" cy="2029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74720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765B"/>
                </a:solidFill>
                <a:latin typeface="Microsoft YaHei"/>
              </a:rPr>
              <a:t>2  偏短序列（Length Bias）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390448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87705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3886200"/>
            <a:ext cx="22494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生成序列普遍短于真实序列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151376"/>
            <a:ext cx="2258568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Generated sequences are consistently shorter than real ones.</a:t>
            </a:r>
          </a:p>
        </p:txBody>
      </p:sp>
      <p:sp>
        <p:nvSpPr>
          <p:cNvPr id="24" name="Oval 23"/>
          <p:cNvSpPr/>
          <p:nvPr/>
        </p:nvSpPr>
        <p:spPr>
          <a:xfrm>
            <a:off x="758952" y="463600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0857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617720"/>
            <a:ext cx="22494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缺乏足够的结构和功能片段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882896"/>
            <a:ext cx="22585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Arial"/>
              </a:rPr>
              <a:t>Missing important structural and functional patterns.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1608" y="1517904"/>
            <a:ext cx="3346704" cy="15727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41063" y="1682496"/>
            <a:ext cx="2880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005B57"/>
                </a:solidFill>
                <a:latin typeface="Microsoft YaHei"/>
              </a:rPr>
              <a:t>示例输出 / Example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057400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4B48"/>
                </a:solidFill>
                <a:latin typeface="Courier New"/>
              </a:rPr>
              <a:t>Input:  MTAQ...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672" y="2057400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2765B"/>
                </a:solidFill>
                <a:latin typeface="Courier New"/>
              </a:rPr>
              <a:t>Output:  &lt;EOS&gt;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368296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4B48"/>
                </a:solidFill>
                <a:latin typeface="Courier New"/>
              </a:rPr>
              <a:t>Input:  GVPA...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2368296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2765B"/>
                </a:solidFill>
                <a:latin typeface="Courier New"/>
              </a:rPr>
              <a:t>Output:  M&lt;EOS&gt;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679192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4B48"/>
                </a:solidFill>
                <a:latin typeface="Courier New"/>
              </a:rPr>
              <a:t>Input:  ALKT...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2679192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2765B"/>
                </a:solidFill>
                <a:latin typeface="Courier New"/>
              </a:rPr>
              <a:t>Output:  &lt;EOS&gt;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21608" y="3310128"/>
            <a:ext cx="3346704" cy="2029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22776" y="3474720"/>
            <a:ext cx="294436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5B57"/>
                </a:solidFill>
                <a:latin typeface="Microsoft YaHei"/>
              </a:rPr>
              <a:t>序列长度分布 / Sequence Length Distribution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60520" y="4965192"/>
            <a:ext cx="2624328" cy="0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60520" y="3840480"/>
            <a:ext cx="0" cy="1124712"/>
          </a:xfrm>
          <a:prstGeom prst="line">
            <a:avLst/>
          </a:prstGeom>
          <a:ln w="10160">
            <a:solidFill>
              <a:srgbClr val="D8E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407408" y="4727448"/>
            <a:ext cx="146304" cy="228600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3440" y="4453128"/>
            <a:ext cx="146304" cy="502920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19472" y="4114800"/>
            <a:ext cx="146304" cy="841248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75504" y="4014215"/>
            <a:ext cx="146304" cy="941832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31536" y="4297680"/>
            <a:ext cx="146304" cy="658368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87568" y="4562856"/>
            <a:ext cx="146304" cy="393192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4773168"/>
            <a:ext cx="146304" cy="182880"/>
          </a:xfrm>
          <a:prstGeom prst="rect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4288536"/>
            <a:ext cx="146304" cy="667512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8032" y="4059935"/>
            <a:ext cx="146304" cy="896112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84064" y="4370832"/>
            <a:ext cx="146304" cy="585216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40096" y="4663440"/>
            <a:ext cx="146304" cy="292608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96128" y="4828032"/>
            <a:ext cx="146304" cy="128016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52160" y="4882896"/>
            <a:ext cx="146304" cy="73152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08192" y="4928616"/>
            <a:ext cx="146304" cy="27432"/>
          </a:xfrm>
          <a:prstGeom prst="rect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26864" y="3730752"/>
            <a:ext cx="20299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716E"/>
                </a:solidFill>
                <a:latin typeface="Arial"/>
              </a:rPr>
              <a:t>■ Real (test set)   ■ Generated (VAE)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6" y="5038344"/>
            <a:ext cx="15727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Sequence length (aa)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6912" y="1517904"/>
            <a:ext cx="3886200" cy="3822191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71231" y="1691640"/>
            <a:ext cx="33375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可能原因 / Possible Causes</a:t>
            </a:r>
          </a:p>
        </p:txBody>
      </p:sp>
      <p:sp>
        <p:nvSpPr>
          <p:cNvPr id="58" name="Oval 57"/>
          <p:cNvSpPr/>
          <p:nvPr/>
        </p:nvSpPr>
        <p:spPr>
          <a:xfrm>
            <a:off x="7571231" y="2103120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0375" y="2075688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90688" y="2084831"/>
            <a:ext cx="2907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训练数据长度分布不均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08975" y="2313432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Training data length skew</a:t>
            </a:r>
          </a:p>
        </p:txBody>
      </p:sp>
      <p:sp>
        <p:nvSpPr>
          <p:cNvPr id="62" name="Oval 61"/>
          <p:cNvSpPr/>
          <p:nvPr/>
        </p:nvSpPr>
        <p:spPr>
          <a:xfrm>
            <a:off x="7571231" y="2706624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0375" y="2679192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90688" y="2688336"/>
            <a:ext cx="2907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训练集中短序列占比过高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08975" y="2916936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Short sequences dominate the training set</a:t>
            </a:r>
          </a:p>
        </p:txBody>
      </p:sp>
      <p:sp>
        <p:nvSpPr>
          <p:cNvPr id="66" name="Oval 65"/>
          <p:cNvSpPr/>
          <p:nvPr/>
        </p:nvSpPr>
        <p:spPr>
          <a:xfrm>
            <a:off x="7571231" y="3310127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0375" y="328269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0688" y="3291839"/>
            <a:ext cx="2907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&lt;EOS&gt; 预测过于自信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08975" y="3520439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EOS overconfidence</a:t>
            </a:r>
          </a:p>
        </p:txBody>
      </p:sp>
      <p:sp>
        <p:nvSpPr>
          <p:cNvPr id="70" name="Oval 69"/>
          <p:cNvSpPr/>
          <p:nvPr/>
        </p:nvSpPr>
        <p:spPr>
          <a:xfrm>
            <a:off x="7571231" y="3913631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80375" y="3886200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0688" y="3895344"/>
            <a:ext cx="2907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训练步数不足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08975" y="4123944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Limited training steps</a:t>
            </a:r>
          </a:p>
        </p:txBody>
      </p:sp>
      <p:sp>
        <p:nvSpPr>
          <p:cNvPr id="74" name="Oval 73"/>
          <p:cNvSpPr/>
          <p:nvPr/>
        </p:nvSpPr>
        <p:spPr>
          <a:xfrm>
            <a:off x="7571231" y="4517136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80375" y="4489704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2765B"/>
                </a:solidFill>
                <a:latin typeface="Microsoft YaHe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0688" y="4498848"/>
            <a:ext cx="2907791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244B48"/>
                </a:solidFill>
                <a:latin typeface="Microsoft YaHei"/>
              </a:rPr>
              <a:t>长度控制能力较弱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08975" y="4727448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Weak length control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57400" y="5577840"/>
            <a:ext cx="7132320" cy="438912"/>
          </a:xfrm>
          <a:prstGeom prst="roundRect">
            <a:avLst/>
          </a:prstGeom>
          <a:solidFill>
            <a:srgbClr val="FBE2D8"/>
          </a:solidFill>
          <a:ln w="12700">
            <a:solidFill>
              <a:srgbClr val="FB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58568" y="5650992"/>
            <a:ext cx="6720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2765B"/>
                </a:solidFill>
                <a:latin typeface="Microsoft YaHei"/>
              </a:rPr>
              <a:t>当前瓶颈不在工程跑通，而在生成质量控制。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40864" y="5843016"/>
            <a:ext cx="65836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The bottleneck has shifted from pipeline execution to generation quality control.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3" y="91439"/>
            <a:ext cx="777240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274320"/>
            <a:ext cx="66751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B57"/>
                </a:solidFill>
                <a:latin typeface="Microsoft YaHei"/>
              </a:rPr>
              <a:t>下一步实验设计</a:t>
            </a:r>
            <a:r>
              <a:rPr sz="1900" b="1">
                <a:solidFill>
                  <a:srgbClr val="005B57"/>
                </a:solidFill>
                <a:latin typeface="Arial"/>
              </a:rPr>
              <a:t> / </a:t>
            </a:r>
            <a:r>
              <a:rPr sz="1900" b="1">
                <a:solidFill>
                  <a:srgbClr val="005B57"/>
                </a:solidFill>
                <a:latin typeface="Arial"/>
              </a:rPr>
              <a:t>Next-stage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3" y="667512"/>
            <a:ext cx="8366759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749808"/>
            <a:ext cx="74980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深化模型验证与功能分析，进一步回答 RQ1–RQ3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987552"/>
            <a:ext cx="749807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Further experiments to validate models and analyze functionality, towards answering RQ1–RQ3.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325880"/>
            <a:ext cx="539496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1481328"/>
            <a:ext cx="365760" cy="365760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3" y="1572768"/>
            <a:ext cx="36576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1453895"/>
            <a:ext cx="451713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5B57"/>
                </a:solidFill>
                <a:latin typeface="Microsoft YaHei"/>
              </a:rPr>
              <a:t>HMMER 家族谱验证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1719072"/>
            <a:ext cx="45171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HMMER Family-Profile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5394960" cy="2148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1481328"/>
            <a:ext cx="365760" cy="365760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572768"/>
            <a:ext cx="36576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1453895"/>
            <a:ext cx="451713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5B57"/>
                </a:solidFill>
                <a:latin typeface="Microsoft YaHei"/>
              </a:rPr>
              <a:t>ESM-2 嵌入与分布分析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1719072"/>
            <a:ext cx="45171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ESM-2 Embeddings &amp;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712463"/>
            <a:ext cx="539496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3" y="3867911"/>
            <a:ext cx="365760" cy="36576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3" y="3959352"/>
            <a:ext cx="36576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3840479"/>
            <a:ext cx="451713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5B57"/>
                </a:solidFill>
                <a:latin typeface="Microsoft YaHei"/>
              </a:rPr>
              <a:t>模型参数扫描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105655"/>
            <a:ext cx="45171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Model Parameter Sweep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12463"/>
            <a:ext cx="539496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867911"/>
            <a:ext cx="365760" cy="365760"/>
          </a:xfrm>
          <a:prstGeom prst="ellipse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959352"/>
            <a:ext cx="36576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840479"/>
            <a:ext cx="451713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5B57"/>
                </a:solidFill>
                <a:latin typeface="Microsoft YaHei"/>
              </a:rPr>
              <a:t>辅助预训练 + 下游微调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105655"/>
            <a:ext cx="451713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55716E"/>
                </a:solidFill>
                <a:latin typeface="Arial"/>
              </a:rPr>
              <a:t>Auxiliary Pretraining + 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1947672"/>
            <a:ext cx="4297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使用 HMMER 评估生成序列的生物学有效性</a:t>
            </a:r>
          </a:p>
        </p:txBody>
      </p:sp>
      <p:sp>
        <p:nvSpPr>
          <p:cNvPr id="30" name="Oval 29"/>
          <p:cNvSpPr/>
          <p:nvPr/>
        </p:nvSpPr>
        <p:spPr>
          <a:xfrm>
            <a:off x="713232" y="230428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227685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2286000"/>
            <a:ext cx="42611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比对 PF00741 / 自建 GvpA HMM profile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" y="267004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264261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2651760"/>
            <a:ext cx="42611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统计命中率、E-value 和 coverage</a:t>
            </a:r>
          </a:p>
        </p:txBody>
      </p:sp>
      <p:sp>
        <p:nvSpPr>
          <p:cNvPr id="36" name="Oval 35"/>
          <p:cNvSpPr/>
          <p:nvPr/>
        </p:nvSpPr>
        <p:spPr>
          <a:xfrm>
            <a:off x="713232" y="303580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300837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017520"/>
            <a:ext cx="426110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与真实序列分布进行对比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2221992"/>
            <a:ext cx="1344168" cy="804672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2414016"/>
            <a:ext cx="1344168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5B57"/>
                </a:solidFill>
                <a:latin typeface="Arial"/>
              </a:rPr>
              <a:t>PF00741
Hit rate 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3096" y="1947672"/>
            <a:ext cx="4389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用预训练蛋白语言模型分析生成序列的分布特征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230428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227685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2286000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提取 ESM-2 表示向量</a:t>
            </a:r>
          </a:p>
        </p:txBody>
      </p:sp>
      <p:sp>
        <p:nvSpPr>
          <p:cNvPr id="45" name="Oval 44"/>
          <p:cNvSpPr/>
          <p:nvPr/>
        </p:nvSpPr>
        <p:spPr>
          <a:xfrm>
            <a:off x="6473952" y="267004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3096" y="264261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8" y="2651760"/>
            <a:ext cx="183794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UMAP 可视化聚类分布</a:t>
            </a:r>
          </a:p>
        </p:txBody>
      </p:sp>
      <p:sp>
        <p:nvSpPr>
          <p:cNvPr id="48" name="Oval 47"/>
          <p:cNvSpPr/>
          <p:nvPr/>
        </p:nvSpPr>
        <p:spPr>
          <a:xfrm>
            <a:off x="6473952" y="3035808"/>
            <a:ext cx="155448" cy="155448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3008376"/>
            <a:ext cx="14630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5A47B"/>
                </a:solidFill>
                <a:latin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3017520"/>
            <a:ext cx="2112263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44B48"/>
                </a:solidFill>
                <a:latin typeface="Microsoft YaHei"/>
              </a:rPr>
              <a:t>计算 MMD / 距离评估分布差异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51392" y="2084831"/>
            <a:ext cx="2331720" cy="10972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231136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B57"/>
                </a:solidFill>
                <a:latin typeface="Arial"/>
              </a:rPr>
              <a:t>ESM-2 Embedding
(UMAP)</a:t>
            </a:r>
          </a:p>
        </p:txBody>
      </p:sp>
      <p:sp>
        <p:nvSpPr>
          <p:cNvPr id="53" name="Oval 52"/>
          <p:cNvSpPr/>
          <p:nvPr/>
        </p:nvSpPr>
        <p:spPr>
          <a:xfrm>
            <a:off x="9253728" y="2743200"/>
            <a:ext cx="91440" cy="91440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09760" y="2642616"/>
            <a:ext cx="91440" cy="91440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47504" y="2825496"/>
            <a:ext cx="91440" cy="91440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60152" y="2642616"/>
            <a:ext cx="91440" cy="9144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88752" y="2834640"/>
            <a:ext cx="91440" cy="9144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26496" y="2706624"/>
            <a:ext cx="91440" cy="91440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" y="4315968"/>
            <a:ext cx="4389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系统探索关键超参数对生成质量的影响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4681728"/>
            <a:ext cx="187451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Microsoft YaHei"/>
              </a:rPr>
              <a:t>LSTM 参数扫描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4965192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Temperature: 0.5 / 0.7 / 1.0 / 1.5
Top-k: 10 / 50 / 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99816" y="4681728"/>
            <a:ext cx="187451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B57"/>
                </a:solidFill>
                <a:latin typeface="Microsoft YaHei"/>
              </a:rPr>
              <a:t>VAE 参数扫描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99816" y="4965192"/>
            <a:ext cx="223113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β: 0.001 / 0.01 / 0.1
Latent scale: 0.5 / 1.0 / 2.0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3096" y="4315968"/>
            <a:ext cx="47091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44B48"/>
                </a:solidFill>
                <a:latin typeface="Microsoft YaHei"/>
              </a:rPr>
              <a:t>先进行通用蛋白序列预训练，再在蓝藻 GvpA 上进行任务微调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10528" y="4690872"/>
            <a:ext cx="184708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01968" y="4764024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B57"/>
                </a:solidFill>
                <a:latin typeface="Microsoft YaHei"/>
              </a:rPr>
              <a:t>1  辅助预训练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709159"/>
            <a:ext cx="1188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6A64"/>
                </a:solidFill>
                <a:latin typeface="Arial"/>
              </a:rPr>
              <a:t>Auxiliary Pretraining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7072" y="4901184"/>
            <a:ext cx="2331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Large-scale GvpA sequences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452360" y="5120640"/>
            <a:ext cx="0" cy="109728"/>
          </a:xfrm>
          <a:prstGeom prst="line">
            <a:avLst/>
          </a:prstGeom>
          <a:ln w="17780">
            <a:solidFill>
              <a:srgbClr val="66B995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6510528" y="5230368"/>
            <a:ext cx="1847088" cy="411480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01968" y="5303520"/>
            <a:ext cx="16642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B57"/>
                </a:solidFill>
                <a:latin typeface="Microsoft YaHei"/>
              </a:rPr>
              <a:t>2  下游微调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77072" y="5248655"/>
            <a:ext cx="1188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6A64"/>
                </a:solidFill>
                <a:latin typeface="Arial"/>
              </a:rPr>
              <a:t>Fine-tuning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77072" y="5440680"/>
            <a:ext cx="2331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716E"/>
                </a:solidFill>
                <a:latin typeface="Arial"/>
              </a:rPr>
              <a:t>Cyanobacterial GvpA dataset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5669280"/>
            <a:ext cx="4800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05B57"/>
                </a:solidFill>
                <a:latin typeface="Microsoft YaHei"/>
              </a:rPr>
              <a:t>比较预训练前后生成质量 / Compare generation quality (w/ vs. w/o pretraining)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1" y="182880"/>
            <a:ext cx="7680960" cy="694944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365760"/>
            <a:ext cx="658368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5B57"/>
                </a:solidFill>
                <a:latin typeface="Microsoft YaHei"/>
              </a:rPr>
              <a:t>总结与展望</a:t>
            </a:r>
            <a:r>
              <a:rPr sz="2000" b="1">
                <a:solidFill>
                  <a:srgbClr val="005B57"/>
                </a:solidFill>
                <a:latin typeface="Arial"/>
              </a:rPr>
              <a:t> / </a:t>
            </a:r>
            <a:r>
              <a:rPr sz="2000" b="1">
                <a:solidFill>
                  <a:srgbClr val="005B57"/>
                </a:solidFill>
                <a:latin typeface="Arial"/>
              </a:rPr>
              <a:t>Conclusions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1" y="795528"/>
            <a:ext cx="8641080" cy="64008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77824"/>
            <a:ext cx="7772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5B57"/>
                </a:solidFill>
                <a:latin typeface="Microsoft YaHei"/>
              </a:rPr>
              <a:t>生成可信的 GvpA 蛋白序列，推动从数据、模型到生物学应用的完整闭环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15568"/>
            <a:ext cx="7772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5716E"/>
                </a:solidFill>
                <a:latin typeface="Arial"/>
              </a:rPr>
              <a:t>Generate reliable GvpA protein sequences, toward a complete pipeline from data to biological applications.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44752"/>
            <a:ext cx="11155680" cy="50292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591056"/>
            <a:ext cx="5074920" cy="4114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64792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B57"/>
                </a:solidFill>
                <a:latin typeface="Microsoft YaHei"/>
              </a:rPr>
              <a:t>主要结论 / Key Takeaways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" y="2240280"/>
            <a:ext cx="274320" cy="27432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286000"/>
            <a:ext cx="2743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21992"/>
            <a:ext cx="4059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5B57"/>
                </a:solidFill>
                <a:latin typeface="Microsoft YaHei"/>
              </a:rPr>
              <a:t>构建了高质量的蓝藻 GvpA 数据集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78024"/>
            <a:ext cx="40690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Built a trusted high-quality GvpA dataset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" y="3017520"/>
            <a:ext cx="274320" cy="27432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063240"/>
            <a:ext cx="2743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99232"/>
            <a:ext cx="4059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5B57"/>
                </a:solidFill>
                <a:latin typeface="Microsoft YaHei"/>
              </a:rPr>
              <a:t>建立了基线模型与 LSTM/VAE 生成流程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55264"/>
            <a:ext cx="40690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Established baselines and an LSTM/VAE generation pipeline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" y="3794760"/>
            <a:ext cx="274320" cy="27432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840480"/>
            <a:ext cx="2743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76472"/>
            <a:ext cx="4059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5B57"/>
                </a:solidFill>
                <a:latin typeface="Microsoft YaHei"/>
              </a:rPr>
              <a:t>构建了统一的生成序列评估体系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32504"/>
            <a:ext cx="40690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Created a unified evaluator for generated sequences</a:t>
            </a:r>
          </a:p>
        </p:txBody>
      </p:sp>
      <p:sp>
        <p:nvSpPr>
          <p:cNvPr id="24" name="Oval 23"/>
          <p:cNvSpPr/>
          <p:nvPr/>
        </p:nvSpPr>
        <p:spPr>
          <a:xfrm>
            <a:off x="768096" y="4572000"/>
            <a:ext cx="274320" cy="274320"/>
          </a:xfrm>
          <a:prstGeom prst="ellipse">
            <a:avLst/>
          </a:prstGeom>
          <a:solidFill>
            <a:srgbClr val="DDEFE2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617720"/>
            <a:ext cx="274320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6A64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53712"/>
            <a:ext cx="4059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5B57"/>
                </a:solidFill>
                <a:latin typeface="Microsoft YaHei"/>
              </a:rPr>
              <a:t>发现了 Early-EOS 与长度控制等关键问题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09744"/>
            <a:ext cx="40690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5716E"/>
                </a:solidFill>
                <a:latin typeface="Arial"/>
              </a:rPr>
              <a:t>Identified key issues such as early-EOS and length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1591056"/>
            <a:ext cx="5486400" cy="4114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764792"/>
            <a:ext cx="48646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B57"/>
                </a:solidFill>
                <a:latin typeface="Microsoft YaHei"/>
              </a:rPr>
              <a:t>未来工作路线图 / Roadmap &amp; Remaining Work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27648" y="2304288"/>
            <a:ext cx="0" cy="2962656"/>
          </a:xfrm>
          <a:prstGeom prst="line">
            <a:avLst/>
          </a:prstGeom>
          <a:ln w="25400">
            <a:solidFill>
              <a:srgbClr val="66B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163056" y="2221992"/>
            <a:ext cx="329184" cy="329184"/>
          </a:xfrm>
          <a:prstGeom prst="ellipse">
            <a:avLst/>
          </a:prstGeom>
          <a:solidFill>
            <a:srgbClr val="35A47B"/>
          </a:solidFill>
          <a:ln w="12700">
            <a:solidFill>
              <a:srgbClr val="35A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2304288"/>
            <a:ext cx="3291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2203704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B57"/>
                </a:solidFill>
                <a:latin typeface="Microsoft YaHei"/>
              </a:rPr>
              <a:t>扩展数据与多样性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2203704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5A47B"/>
                </a:solidFill>
                <a:latin typeface="Arial"/>
              </a:rPr>
              <a:t>Expand Data &amp; Diversity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432304"/>
            <a:ext cx="4187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引入更多物种与环境来源序列</a:t>
            </a:r>
          </a:p>
        </p:txBody>
      </p:sp>
      <p:sp>
        <p:nvSpPr>
          <p:cNvPr id="36" name="Oval 35"/>
          <p:cNvSpPr/>
          <p:nvPr/>
        </p:nvSpPr>
        <p:spPr>
          <a:xfrm>
            <a:off x="6163056" y="2834640"/>
            <a:ext cx="329184" cy="329184"/>
          </a:xfrm>
          <a:prstGeom prst="ellipse">
            <a:avLst/>
          </a:prstGeom>
          <a:solidFill>
            <a:srgbClr val="F2765B"/>
          </a:solidFill>
          <a:ln w="12700">
            <a:solidFill>
              <a:srgbClr val="F2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2916936"/>
            <a:ext cx="3291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2816352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B57"/>
                </a:solidFill>
                <a:latin typeface="Microsoft YaHei"/>
              </a:rPr>
              <a:t>方法改进与对比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2816352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2765B"/>
                </a:solidFill>
                <a:latin typeface="Arial"/>
              </a:rPr>
              <a:t>Method Improvement &amp;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3044952"/>
            <a:ext cx="4187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尝试 Diffusion、Transformer 等模型</a:t>
            </a:r>
          </a:p>
        </p:txBody>
      </p:sp>
      <p:sp>
        <p:nvSpPr>
          <p:cNvPr id="41" name="Oval 40"/>
          <p:cNvSpPr/>
          <p:nvPr/>
        </p:nvSpPr>
        <p:spPr>
          <a:xfrm>
            <a:off x="6163056" y="3447288"/>
            <a:ext cx="329184" cy="329184"/>
          </a:xfrm>
          <a:prstGeom prst="ellipse">
            <a:avLst/>
          </a:prstGeom>
          <a:solidFill>
            <a:srgbClr val="006A64"/>
          </a:solidFill>
          <a:ln w="12700">
            <a:solidFill>
              <a:srgbClr val="006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3056" y="3529584"/>
            <a:ext cx="3291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3429000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B57"/>
                </a:solidFill>
                <a:latin typeface="Microsoft YaHei"/>
              </a:rPr>
              <a:t>权衡分析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342900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6A64"/>
                </a:solidFill>
                <a:latin typeface="Arial"/>
              </a:rPr>
              <a:t>Trade-off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3657600"/>
            <a:ext cx="4187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分析多样性、功能潜力与保守性的平衡</a:t>
            </a:r>
          </a:p>
        </p:txBody>
      </p:sp>
      <p:sp>
        <p:nvSpPr>
          <p:cNvPr id="46" name="Oval 45"/>
          <p:cNvSpPr/>
          <p:nvPr/>
        </p:nvSpPr>
        <p:spPr>
          <a:xfrm>
            <a:off x="6163056" y="4059936"/>
            <a:ext cx="329184" cy="329184"/>
          </a:xfrm>
          <a:prstGeom prst="ellipse">
            <a:avLst/>
          </a:prstGeom>
          <a:solidFill>
            <a:srgbClr val="66B995"/>
          </a:solidFill>
          <a:ln w="12700">
            <a:solidFill>
              <a:srgbClr val="66B9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4142232"/>
            <a:ext cx="3291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4041648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B57"/>
                </a:solidFill>
                <a:latin typeface="Microsoft YaHei"/>
              </a:rPr>
              <a:t>嵌入空间验证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42248" y="4041648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6B995"/>
                </a:solidFill>
                <a:latin typeface="Arial"/>
              </a:rPr>
              <a:t>Embedding-space 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4270248"/>
            <a:ext cx="4187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在 ESM-2 空间验证分布合理性</a:t>
            </a:r>
          </a:p>
        </p:txBody>
      </p:sp>
      <p:sp>
        <p:nvSpPr>
          <p:cNvPr id="51" name="Oval 50"/>
          <p:cNvSpPr/>
          <p:nvPr/>
        </p:nvSpPr>
        <p:spPr>
          <a:xfrm>
            <a:off x="6163056" y="4672584"/>
            <a:ext cx="329184" cy="329184"/>
          </a:xfrm>
          <a:prstGeom prst="ellipse">
            <a:avLst/>
          </a:prstGeom>
          <a:solidFill>
            <a:srgbClr val="005B57"/>
          </a:solidFill>
          <a:ln w="12700">
            <a:solidFill>
              <a:srgbClr val="005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6" y="4754880"/>
            <a:ext cx="329184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4654296"/>
            <a:ext cx="2148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B57"/>
                </a:solidFill>
                <a:latin typeface="Microsoft YaHei"/>
              </a:rPr>
              <a:t>最终报告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42248" y="4654296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B57"/>
                </a:solidFill>
                <a:latin typeface="Arial"/>
              </a:rPr>
              <a:t>Final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4882896"/>
            <a:ext cx="41879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716E"/>
                </a:solidFill>
                <a:latin typeface="Microsoft YaHei"/>
              </a:rPr>
              <a:t>整合实验结果，完成论文与项目总结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31720" y="5897880"/>
            <a:ext cx="7040880" cy="438912"/>
          </a:xfrm>
          <a:prstGeom prst="roundRect">
            <a:avLst/>
          </a:prstGeom>
          <a:solidFill>
            <a:srgbClr val="EDF6EF"/>
          </a:solidFill>
          <a:ln w="12700">
            <a:solidFill>
              <a:srgbClr val="DD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5989320"/>
            <a:ext cx="6675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5B57"/>
                </a:solidFill>
                <a:latin typeface="Microsoft YaHei"/>
              </a:rPr>
              <a:t>从可信数据到可靠生成 / From curated sequences to reliable generation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6473952"/>
            <a:ext cx="5029200" cy="228600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800" y="6501384"/>
            <a:ext cx="44805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6B995"/>
                </a:solidFill>
                <a:latin typeface="Arial"/>
              </a:rPr>
              <a:t>SEQUENCE   •   STRUCTURE   •   FUNCTION   •   DESIGN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84280" y="6473952"/>
            <a:ext cx="594360" cy="201168"/>
          </a:xfrm>
          <a:prstGeom prst="rect">
            <a:avLst/>
          </a:prstGeom>
          <a:solidFill>
            <a:srgbClr val="F8F6EE"/>
          </a:solidFill>
          <a:ln w="12700">
            <a:solidFill>
              <a:srgbClr val="F8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11712" y="6492240"/>
            <a:ext cx="43891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55716E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GV02-01 Cyanobacterial GvpA Protein Sequence Generation</dc:title>
  <dc:subject>Editable reconstruction of Style C academic presentation</dc:subject>
  <dc:creator>GV02-01 Project Team</dc:creator>
  <cp:keywords/>
  <dc:description>Reconstructed with editable text, shapes, arrows, charts, and timelines. Complex illustrations retained from the source slides.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