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4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80" y="2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3532" y="257819"/>
            <a:ext cx="1547208" cy="701269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5421" y="979714"/>
            <a:ext cx="495106" cy="82502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736" y="288757"/>
            <a:ext cx="1547208" cy="67033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1C6C73"/>
                </a:solidFill>
                <a:latin typeface="Microsoft YaHei"/>
              </a:rPr>
              <a:t>Cyanobacteria
Protein Design
AI for Life Sciences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365" y="1000339"/>
            <a:ext cx="412588" cy="20625"/>
          </a:xfrm>
          <a:prstGeom prst="rect">
            <a:avLst/>
          </a:prstGeom>
          <a:solidFill>
            <a:srgbClr val="F27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33075" y="226881"/>
            <a:ext cx="2114517" cy="515639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84649" y="742520"/>
            <a:ext cx="567309" cy="82502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36223" y="257819"/>
            <a:ext cx="2001055" cy="43313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055258"/>
                </a:solidFill>
                <a:latin typeface="Arial"/>
              </a:rPr>
              <a:t>S M A L L  P R O T E I N S
B I G  P O S S I B I L I T I E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36223" y="783771"/>
            <a:ext cx="443532" cy="20625"/>
          </a:xfrm>
          <a:prstGeom prst="rect">
            <a:avLst/>
          </a:prstGeom>
          <a:solidFill>
            <a:srgbClr val="F27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532" y="1371600"/>
            <a:ext cx="6395126" cy="515639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5421" y="1402538"/>
            <a:ext cx="6395126" cy="47438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10" b="1">
                <a:solidFill>
                  <a:srgbClr val="055258"/>
                </a:solidFill>
                <a:latin typeface="Microsoft YaHei"/>
              </a:rPr>
              <a:t>蓝藻 GvpA 蛋白序列生成研究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218" y="1959428"/>
            <a:ext cx="5415228" cy="804396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736" y="2000679"/>
            <a:ext cx="5363654" cy="78377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20" b="1">
                <a:solidFill>
                  <a:srgbClr val="055258"/>
                </a:solidFill>
                <a:latin typeface="Arial"/>
              </a:rPr>
              <a:t>Cyanobacterial GvpA Protein
Sequence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532" y="2990706"/>
            <a:ext cx="5208933" cy="319696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5736" y="3042270"/>
            <a:ext cx="5157360" cy="2681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0" b="1">
                <a:solidFill>
                  <a:srgbClr val="0D636A"/>
                </a:solidFill>
                <a:latin typeface="Microsoft YaHei"/>
              </a:rPr>
              <a:t>机器学习综合实践 · GV02-01 · 阶段性汇报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532" y="3289777"/>
            <a:ext cx="5260507" cy="257819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736" y="3320715"/>
            <a:ext cx="5208933" cy="2268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90" b="0">
                <a:solidFill>
                  <a:srgbClr val="1C6C73"/>
                </a:solidFill>
                <a:latin typeface="Arial"/>
              </a:rPr>
              <a:t>Machine Learning Practice · GV02-01 · Progress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532" y="3764165"/>
            <a:ext cx="6395126" cy="257819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5736" y="3805416"/>
            <a:ext cx="6395126" cy="22688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0D636A"/>
                </a:solidFill>
                <a:latin typeface="Microsoft YaHei"/>
              </a:rPr>
              <a:t>结合生物信息学与生成模型，探索蓝藻气囊蛋白 GvpA 的序列设计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532" y="4032297"/>
            <a:ext cx="6859289" cy="226881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5736" y="4063236"/>
            <a:ext cx="6807715" cy="19594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40" b="0">
                <a:solidFill>
                  <a:srgbClr val="1C6C73"/>
                </a:solidFill>
                <a:latin typeface="Arial"/>
              </a:rPr>
              <a:t>Combining bioinformatics and generative models for cyanobacterial GvpA sequence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top_l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127"/>
            <a:ext cx="567309" cy="1340661"/>
          </a:xfrm>
          <a:prstGeom prst="rect">
            <a:avLst/>
          </a:prstGeom>
        </p:spPr>
      </p:pic>
      <p:pic>
        <p:nvPicPr>
          <p:cNvPr id="3" name="Picture 2" descr="right_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690" y="0"/>
            <a:ext cx="2599309" cy="5723593"/>
          </a:xfrm>
          <a:prstGeom prst="rect">
            <a:avLst/>
          </a:prstGeom>
        </p:spPr>
      </p:pic>
      <p:pic>
        <p:nvPicPr>
          <p:cNvPr id="4" name="Picture 3" descr="left_bottom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56390"/>
            <a:ext cx="1031472" cy="1701609"/>
          </a:xfrm>
          <a:prstGeom prst="rect">
            <a:avLst/>
          </a:prstGeom>
        </p:spPr>
      </p:pic>
      <p:pic>
        <p:nvPicPr>
          <p:cNvPr id="5" name="Picture 4" descr="right_bottom_dec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690" y="5362646"/>
            <a:ext cx="2599309" cy="149535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39187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73278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07370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41461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75553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9644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43735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39187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73278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07370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41461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75553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9644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43735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839187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73278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07370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41461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75553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9644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43735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39187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973278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07370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1461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75553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09644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643735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839187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973278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107370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241461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75553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509644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643735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7309" y="350634"/>
            <a:ext cx="7529746" cy="536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06585C"/>
                </a:solidFill>
                <a:latin typeface="Microsoft YaHei"/>
              </a:rPr>
              <a:t>研究背景与动机  /  Biological Motivation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39" y="917837"/>
            <a:ext cx="5157360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b="0">
                <a:solidFill>
                  <a:srgbClr val="187073"/>
                </a:solidFill>
                <a:latin typeface="Microsoft YaHei"/>
              </a:rPr>
              <a:t>蓝藻气囊蛋白 GvpA 及其应用前景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39" y="1206595"/>
            <a:ext cx="5260507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87073"/>
                </a:solidFill>
                <a:latin typeface="Arial"/>
              </a:rPr>
              <a:t>Cyanobacterial GvpA and Its Potential Applications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5106" y="1536604"/>
            <a:ext cx="6343553" cy="1423163"/>
          </a:xfrm>
          <a:prstGeom prst="roundRect">
            <a:avLst/>
          </a:prstGeom>
          <a:solidFill>
            <a:srgbClr val="F8F9F3"/>
          </a:solidFill>
          <a:ln w="10160">
            <a:solidFill>
              <a:srgbClr val="E1E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15736" y="1567542"/>
            <a:ext cx="536365" cy="536264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95106" y="3042270"/>
            <a:ext cx="6343553" cy="1423163"/>
          </a:xfrm>
          <a:prstGeom prst="roundRect">
            <a:avLst/>
          </a:prstGeom>
          <a:solidFill>
            <a:srgbClr val="F8F9F3"/>
          </a:solidFill>
          <a:ln w="10160">
            <a:solidFill>
              <a:srgbClr val="E1E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15736" y="3073209"/>
            <a:ext cx="536365" cy="53626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95106" y="4568562"/>
            <a:ext cx="6343553" cy="1423163"/>
          </a:xfrm>
          <a:prstGeom prst="roundRect">
            <a:avLst/>
          </a:prstGeom>
          <a:solidFill>
            <a:srgbClr val="F8F9F3"/>
          </a:solidFill>
          <a:ln w="10160">
            <a:solidFill>
              <a:srgbClr val="E1E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15736" y="4599500"/>
            <a:ext cx="536365" cy="536264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36" y="1680983"/>
            <a:ext cx="536365" cy="3300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36" y="3186649"/>
            <a:ext cx="536365" cy="3300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736" y="4712941"/>
            <a:ext cx="536365" cy="3300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pic>
        <p:nvPicPr>
          <p:cNvPr id="53" name="Picture 52" descr="gas_vesic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974" y="1639732"/>
            <a:ext cx="1805076" cy="1165344"/>
          </a:xfrm>
          <a:prstGeom prst="rect">
            <a:avLst/>
          </a:prstGeom>
        </p:spPr>
      </p:pic>
      <p:pic>
        <p:nvPicPr>
          <p:cNvPr id="54" name="Picture 53" descr="gvpa_prote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48" y="3104147"/>
            <a:ext cx="1753502" cy="1340661"/>
          </a:xfrm>
          <a:prstGeom prst="rect">
            <a:avLst/>
          </a:prstGeom>
        </p:spPr>
      </p:pic>
      <p:pic>
        <p:nvPicPr>
          <p:cNvPr id="55" name="Picture 54" descr="bio_app_ic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695" y="4692315"/>
            <a:ext cx="1547208" cy="108284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826233" y="1639732"/>
            <a:ext cx="3610152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6585C"/>
                </a:solidFill>
                <a:latin typeface="Microsoft YaHei"/>
              </a:rPr>
              <a:t>气囊（Gas Vesicles, GVs）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26233" y="1938803"/>
            <a:ext cx="309441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0">
                <a:solidFill>
                  <a:srgbClr val="187073"/>
                </a:solidFill>
                <a:latin typeface="Arial"/>
              </a:rPr>
              <a:t>Gas Vesicles in Cyanobacteria</a:t>
            </a:r>
          </a:p>
        </p:txBody>
      </p:sp>
      <p:sp>
        <p:nvSpPr>
          <p:cNvPr id="58" name="Oval 57"/>
          <p:cNvSpPr/>
          <p:nvPr/>
        </p:nvSpPr>
        <p:spPr>
          <a:xfrm>
            <a:off x="2826233" y="2206935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26233" y="2196622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7878" y="2175996"/>
            <a:ext cx="338322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187073"/>
                </a:solidFill>
                <a:latin typeface="Microsoft YaHei"/>
              </a:rPr>
              <a:t>蓝藻特有的纳米级气体囊泡结构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7878" y="2392565"/>
            <a:ext cx="3455431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Nano-sized gas-filled organelles in cyanobacteria</a:t>
            </a:r>
          </a:p>
        </p:txBody>
      </p:sp>
      <p:sp>
        <p:nvSpPr>
          <p:cNvPr id="62" name="Oval 61"/>
          <p:cNvSpPr/>
          <p:nvPr/>
        </p:nvSpPr>
        <p:spPr>
          <a:xfrm>
            <a:off x="2826233" y="2598821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826233" y="2588508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7878" y="2567882"/>
            <a:ext cx="309441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187073"/>
                </a:solidFill>
                <a:latin typeface="Microsoft YaHei"/>
              </a:rPr>
              <a:t>调节浮力，适应光照与环境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7878" y="2784451"/>
            <a:ext cx="350700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Regulate buoyancy for optimal light and environment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26233" y="3186649"/>
            <a:ext cx="3507004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6585C"/>
                </a:solidFill>
                <a:latin typeface="Microsoft YaHei"/>
              </a:rPr>
              <a:t>GvpA：主要的气囊壳蛋白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26233" y="3485720"/>
            <a:ext cx="3403857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0">
                <a:solidFill>
                  <a:srgbClr val="187073"/>
                </a:solidFill>
                <a:latin typeface="Arial"/>
              </a:rPr>
              <a:t>GvpA: Major Gas Vesicle Shell Protein</a:t>
            </a:r>
          </a:p>
        </p:txBody>
      </p:sp>
      <p:sp>
        <p:nvSpPr>
          <p:cNvPr id="68" name="Oval 67"/>
          <p:cNvSpPr/>
          <p:nvPr/>
        </p:nvSpPr>
        <p:spPr>
          <a:xfrm>
            <a:off x="2826233" y="3733227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26233" y="3722914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7878" y="3702288"/>
            <a:ext cx="32491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10" b="0">
                <a:solidFill>
                  <a:srgbClr val="187073"/>
                </a:solidFill>
                <a:latin typeface="Microsoft YaHei"/>
              </a:rPr>
              <a:t>构成气囊壳体的主要结构蛋白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7878" y="3918857"/>
            <a:ext cx="324913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Major structural protein of GV shell</a:t>
            </a:r>
          </a:p>
        </p:txBody>
      </p:sp>
      <p:sp>
        <p:nvSpPr>
          <p:cNvPr id="72" name="Oval 71"/>
          <p:cNvSpPr/>
          <p:nvPr/>
        </p:nvSpPr>
        <p:spPr>
          <a:xfrm>
            <a:off x="2826233" y="4114800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26233" y="4104487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7878" y="4083861"/>
            <a:ext cx="32491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10" b="0">
                <a:solidFill>
                  <a:srgbClr val="187073"/>
                </a:solidFill>
                <a:latin typeface="Microsoft YaHei"/>
              </a:rPr>
              <a:t>小而稳定，具有重复序列特征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7878" y="4300430"/>
            <a:ext cx="330071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Small, stable, and rich in repeating motifs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26233" y="4692315"/>
            <a:ext cx="3610152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6585C"/>
                </a:solidFill>
                <a:latin typeface="Microsoft YaHei"/>
              </a:rPr>
              <a:t>生物工程与超声成像应用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26233" y="4991386"/>
            <a:ext cx="371329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0">
                <a:solidFill>
                  <a:srgbClr val="187073"/>
                </a:solidFill>
                <a:latin typeface="Arial"/>
              </a:rPr>
              <a:t>Applications in Bioengineering &amp; Ultrasound Imaging</a:t>
            </a:r>
          </a:p>
        </p:txBody>
      </p:sp>
      <p:sp>
        <p:nvSpPr>
          <p:cNvPr id="78" name="Oval 77"/>
          <p:cNvSpPr/>
          <p:nvPr/>
        </p:nvSpPr>
        <p:spPr>
          <a:xfrm>
            <a:off x="2826233" y="5269831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826233" y="5259518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7878" y="5238893"/>
            <a:ext cx="340385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87073"/>
                </a:solidFill>
                <a:latin typeface="Microsoft YaHei"/>
              </a:rPr>
              <a:t>可用于合成生物学与生物材料设计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7878" y="5455461"/>
            <a:ext cx="3455431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>
                <a:solidFill>
                  <a:srgbClr val="436F70"/>
                </a:solidFill>
                <a:latin typeface="Arial"/>
              </a:rPr>
              <a:t>Useful for synthetic biology and biomaterials design</a:t>
            </a:r>
          </a:p>
        </p:txBody>
      </p:sp>
      <p:sp>
        <p:nvSpPr>
          <p:cNvPr id="82" name="Oval 81"/>
          <p:cNvSpPr/>
          <p:nvPr/>
        </p:nvSpPr>
        <p:spPr>
          <a:xfrm>
            <a:off x="2826233" y="5651404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826233" y="5641091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7878" y="5620466"/>
            <a:ext cx="340385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87073"/>
                </a:solidFill>
                <a:latin typeface="Microsoft YaHei"/>
              </a:rPr>
              <a:t>作为超声成像对比剂的潜在平台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7878" y="5837034"/>
            <a:ext cx="350700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36F70"/>
                </a:solidFill>
                <a:latin typeface="Arial"/>
              </a:rPr>
              <a:t>Potential platform for ultrasound imaging contrast agents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5969" y="1247846"/>
            <a:ext cx="3713299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b="1">
                <a:solidFill>
                  <a:srgbClr val="06585C"/>
                </a:solidFill>
                <a:latin typeface="Microsoft YaHei"/>
              </a:rPr>
              <a:t>三大目标 / Three Objectives</a:t>
            </a:r>
          </a:p>
        </p:txBody>
      </p:sp>
      <p:sp>
        <p:nvSpPr>
          <p:cNvPr id="87" name="Oval 86"/>
          <p:cNvSpPr/>
          <p:nvPr/>
        </p:nvSpPr>
        <p:spPr>
          <a:xfrm>
            <a:off x="8272405" y="1557230"/>
            <a:ext cx="1815390" cy="1959428"/>
          </a:xfrm>
          <a:prstGeom prst="ellipse">
            <a:avLst/>
          </a:prstGeom>
          <a:solidFill>
            <a:srgbClr val="E9F4E0"/>
          </a:solidFill>
          <a:ln w="13970">
            <a:solidFill>
              <a:srgbClr val="92C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024324" y="3454781"/>
            <a:ext cx="1856649" cy="2134745"/>
          </a:xfrm>
          <a:prstGeom prst="ellipse">
            <a:avLst/>
          </a:prstGeom>
          <a:solidFill>
            <a:srgbClr val="FEEDE1"/>
          </a:solidFill>
          <a:ln w="1397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9747410" y="3465094"/>
            <a:ext cx="1856649" cy="2134745"/>
          </a:xfrm>
          <a:prstGeom prst="ellipse">
            <a:avLst/>
          </a:prstGeom>
          <a:solidFill>
            <a:srgbClr val="E3F5F2"/>
          </a:solidFill>
          <a:ln w="13970">
            <a:solidFill>
              <a:srgbClr val="54B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8561218" y="3454781"/>
            <a:ext cx="1392487" cy="1546917"/>
          </a:xfrm>
          <a:prstGeom prst="ellipse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1" name="Connector 90"/>
          <p:cNvCxnSpPr/>
          <p:nvPr/>
        </p:nvCxnSpPr>
        <p:spPr>
          <a:xfrm flipH="1">
            <a:off x="7797928" y="2640072"/>
            <a:ext cx="629198" cy="752833"/>
          </a:xfrm>
          <a:prstGeom prst="line">
            <a:avLst/>
          </a:prstGeom>
          <a:ln w="15240">
            <a:solidFill>
              <a:srgbClr val="065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13500000">
            <a:off x="7725725" y="3331028"/>
            <a:ext cx="103147" cy="123753"/>
          </a:xfrm>
          <a:prstGeom prst="triangle">
            <a:avLst/>
          </a:prstGeom>
          <a:solidFill>
            <a:srgbClr val="06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" name="Connector 92"/>
          <p:cNvCxnSpPr/>
          <p:nvPr/>
        </p:nvCxnSpPr>
        <p:spPr>
          <a:xfrm>
            <a:off x="9933075" y="2650384"/>
            <a:ext cx="639513" cy="752834"/>
          </a:xfrm>
          <a:prstGeom prst="line">
            <a:avLst/>
          </a:prstGeom>
          <a:ln w="15240">
            <a:solidFill>
              <a:srgbClr val="065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 rot="8100000">
            <a:off x="10521014" y="3331028"/>
            <a:ext cx="103147" cy="123753"/>
          </a:xfrm>
          <a:prstGeom prst="triangle">
            <a:avLst/>
          </a:prstGeom>
          <a:solidFill>
            <a:srgbClr val="06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/>
          <p:cNvCxnSpPr/>
          <p:nvPr/>
        </p:nvCxnSpPr>
        <p:spPr>
          <a:xfrm>
            <a:off x="8767512" y="5218267"/>
            <a:ext cx="1010843" cy="0"/>
          </a:xfrm>
          <a:prstGeom prst="line">
            <a:avLst/>
          </a:prstGeom>
          <a:ln w="19050">
            <a:solidFill>
              <a:srgbClr val="F68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16200000">
            <a:off x="8684994" y="5156390"/>
            <a:ext cx="113461" cy="123753"/>
          </a:xfrm>
          <a:prstGeom prst="triangle">
            <a:avLst/>
          </a:prstGeom>
          <a:solidFill>
            <a:srgbClr val="F6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Isosceles Triangle 96"/>
          <p:cNvSpPr/>
          <p:nvPr/>
        </p:nvSpPr>
        <p:spPr>
          <a:xfrm rot="5400000">
            <a:off x="9737096" y="5156390"/>
            <a:ext cx="113461" cy="123753"/>
          </a:xfrm>
          <a:prstGeom prst="triangle">
            <a:avLst/>
          </a:prstGeom>
          <a:solidFill>
            <a:srgbClr val="06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validity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0030" y="1650045"/>
            <a:ext cx="598253" cy="556890"/>
          </a:xfrm>
          <a:prstGeom prst="rect">
            <a:avLst/>
          </a:prstGeom>
        </p:spPr>
      </p:pic>
      <p:pic>
        <p:nvPicPr>
          <p:cNvPr id="99" name="Picture 98" descr="novelty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2578" y="3588848"/>
            <a:ext cx="556994" cy="515639"/>
          </a:xfrm>
          <a:prstGeom prst="rect">
            <a:avLst/>
          </a:prstGeom>
        </p:spPr>
      </p:pic>
      <p:pic>
        <p:nvPicPr>
          <p:cNvPr id="100" name="Picture 99" descr="diversity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8182" y="3599160"/>
            <a:ext cx="536365" cy="495013"/>
          </a:xfrm>
          <a:prstGeom prst="rect">
            <a:avLst/>
          </a:prstGeom>
        </p:spPr>
      </p:pic>
      <p:pic>
        <p:nvPicPr>
          <p:cNvPr id="101" name="Picture 100" descr="center_dna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5065" y="3609473"/>
            <a:ext cx="433218" cy="4847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592162" y="2186309"/>
            <a:ext cx="1217137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60" b="1">
                <a:solidFill>
                  <a:srgbClr val="2A825C"/>
                </a:solidFill>
                <a:latin typeface="Microsoft YaHei"/>
              </a:rPr>
              <a:t>约束满足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23106" y="2444129"/>
            <a:ext cx="115524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>
                <a:solidFill>
                  <a:srgbClr val="2A825C"/>
                </a:solidFill>
                <a:latin typeface="Arial"/>
              </a:rPr>
              <a:t>Validity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19959" y="2640072"/>
            <a:ext cx="1392487" cy="433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0">
                <a:solidFill>
                  <a:srgbClr val="2A825C"/>
                </a:solidFill>
                <a:latin typeface="Microsoft YaHei"/>
              </a:rPr>
              <a:t>满足生物学与
结构约束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89015" y="3083521"/>
            <a:ext cx="1444060" cy="495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436F70"/>
                </a:solidFill>
                <a:latin typeface="Arial"/>
              </a:rPr>
              <a:t>Satisfy biological
and structural
constraints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54395" y="4063236"/>
            <a:ext cx="1196507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80" b="1">
                <a:solidFill>
                  <a:srgbClr val="C85530"/>
                </a:solidFill>
                <a:latin typeface="Microsoft YaHei"/>
              </a:rPr>
              <a:t>新颖性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85339" y="4331368"/>
            <a:ext cx="1134619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1">
                <a:solidFill>
                  <a:srgbClr val="C85530"/>
                </a:solidFill>
                <a:latin typeface="Arial"/>
              </a:rPr>
              <a:t>Novelty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71877" y="4578875"/>
            <a:ext cx="1392487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0">
                <a:solidFill>
                  <a:srgbClr val="B25C3E"/>
                </a:solidFill>
                <a:latin typeface="Microsoft YaHei"/>
              </a:rPr>
              <a:t>生成新颖且
非冗余的序列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61563" y="4991386"/>
            <a:ext cx="1413116" cy="48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436F70"/>
                </a:solidFill>
                <a:latin typeface="Arial"/>
              </a:rPr>
              <a:t>Generate novel
and non-redundant
sequences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56852" y="4063236"/>
            <a:ext cx="1196507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80" b="1">
                <a:solidFill>
                  <a:srgbClr val="06585C"/>
                </a:solidFill>
                <a:latin typeface="Microsoft YaHei"/>
              </a:rPr>
              <a:t>多样性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77481" y="4331368"/>
            <a:ext cx="115524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1">
                <a:solidFill>
                  <a:srgbClr val="06585C"/>
                </a:solidFill>
                <a:latin typeface="Arial"/>
              </a:rPr>
              <a:t>Diversity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94964" y="4578875"/>
            <a:ext cx="1320284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0">
                <a:solidFill>
                  <a:srgbClr val="06585C"/>
                </a:solidFill>
                <a:latin typeface="Microsoft YaHei"/>
              </a:rPr>
              <a:t>覆盖更广的
序列空间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4020" y="5042950"/>
            <a:ext cx="1371857" cy="402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436F70"/>
                </a:solidFill>
                <a:latin typeface="Arial"/>
              </a:rPr>
              <a:t>Cover a broader
sequence space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26253" y="4032297"/>
            <a:ext cx="1052101" cy="742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6585C"/>
                </a:solidFill>
                <a:latin typeface="Arial"/>
              </a:rPr>
              <a:t>GvpA
Sequence
Generation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309969" y="6043290"/>
            <a:ext cx="8458070" cy="618766"/>
          </a:xfrm>
          <a:prstGeom prst="roundRect">
            <a:avLst/>
          </a:prstGeom>
          <a:solidFill>
            <a:srgbClr val="FFF2F2"/>
          </a:solidFill>
          <a:ln w="10160">
            <a:solidFill>
              <a:srgbClr val="F4A9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6" name="Picture 115" descr="trophy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9969" y="6053603"/>
            <a:ext cx="701400" cy="63939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2320812" y="6167043"/>
            <a:ext cx="701400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10" b="1">
                <a:solidFill>
                  <a:srgbClr val="EF4A69"/>
                </a:solidFill>
                <a:latin typeface="Microsoft YaHei"/>
              </a:rPr>
              <a:t>核心挑战：在保持生物学约束的同时生成新颖且多样的序列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20812" y="6414550"/>
            <a:ext cx="7117157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0">
                <a:solidFill>
                  <a:srgbClr val="436F70"/>
                </a:solidFill>
                <a:latin typeface="Arial"/>
              </a:rPr>
              <a:t>Core challenge: generate novel and diverse sequences while preserving biological constraints.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387451" y="6476427"/>
            <a:ext cx="536365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30" b="0">
                <a:solidFill>
                  <a:srgbClr val="06585C"/>
                </a:solidFill>
                <a:latin typeface="Arial"/>
              </a:rPr>
              <a:t>2 / 12</a:t>
            </a:r>
          </a:p>
        </p:txBody>
      </p:sp>
    </p:spTree>
    <p:extLst>
      <p:ext uri="{BB962C8B-B14F-4D97-AF65-F5344CB8AC3E}">
        <p14:creationId xmlns:p14="http://schemas.microsoft.com/office/powerpoint/2010/main" val="408002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_righ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334" y="0"/>
            <a:ext cx="4249664" cy="1938803"/>
          </a:xfrm>
          <a:prstGeom prst="rect">
            <a:avLst/>
          </a:prstGeom>
        </p:spPr>
      </p:pic>
      <p:pic>
        <p:nvPicPr>
          <p:cNvPr id="3" name="Picture 2" descr="top_curve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360" y="0"/>
            <a:ext cx="3868020" cy="804396"/>
          </a:xfrm>
          <a:prstGeom prst="rect">
            <a:avLst/>
          </a:prstGeom>
        </p:spPr>
      </p:pic>
      <p:pic>
        <p:nvPicPr>
          <p:cNvPr id="4" name="Picture 3" descr="bottom_left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75157"/>
            <a:ext cx="990213" cy="1082842"/>
          </a:xfrm>
          <a:prstGeom prst="rect">
            <a:avLst/>
          </a:prstGeom>
        </p:spPr>
      </p:pic>
      <p:pic>
        <p:nvPicPr>
          <p:cNvPr id="5" name="Picture 4" descr="bottom_right_dec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030" y="5754532"/>
            <a:ext cx="1309969" cy="110346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827289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951065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74842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198619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22395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46172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69949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93725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27289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51065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74842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98619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22395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46172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569949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93725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27289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51065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842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198619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22395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446172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569949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93725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27289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951065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74842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198619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322395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46172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569949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93725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827289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951065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074842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198619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22395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46172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569949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693725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346192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459654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573116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686578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800040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913502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2026964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346192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459654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573116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686578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800040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913502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2026964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346192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459654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573116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686578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800040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913502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2026964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346192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459654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573116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686578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800040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913502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2026964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19756" y="257819"/>
            <a:ext cx="1547208" cy="536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>
                <a:solidFill>
                  <a:srgbClr val="116B70"/>
                </a:solidFill>
                <a:latin typeface="Arial"/>
              </a:rPr>
              <a:t>Cyanobacteria
Protein Design
AI for Life Sciences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1015" y="855960"/>
            <a:ext cx="7839187" cy="495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20" b="1">
                <a:solidFill>
                  <a:srgbClr val="055358"/>
                </a:solidFill>
                <a:latin typeface="Microsoft YaHei"/>
              </a:rPr>
              <a:t>题目要求与当前进度  /  Requirement Mapping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329" y="1350974"/>
            <a:ext cx="6498273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6B70"/>
                </a:solidFill>
                <a:latin typeface="Microsoft YaHei"/>
              </a:rPr>
              <a:t>将题目要求分解为可执行的里程碑，并跟踪当前完成情况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1329" y="1619106"/>
            <a:ext cx="670456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116B70"/>
                </a:solidFill>
                <a:latin typeface="Arial"/>
              </a:rPr>
              <a:t>Map the project requirements to actionable milestones and track our progress.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537421" y="2145058"/>
            <a:ext cx="165035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 rot="5400000">
            <a:off x="2661197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0" name="Connector 79"/>
          <p:cNvCxnSpPr/>
          <p:nvPr/>
        </p:nvCxnSpPr>
        <p:spPr>
          <a:xfrm>
            <a:off x="4940751" y="2145058"/>
            <a:ext cx="165035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Isosceles Triangle 80"/>
          <p:cNvSpPr/>
          <p:nvPr/>
        </p:nvSpPr>
        <p:spPr>
          <a:xfrm rot="5400000">
            <a:off x="5064527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7240933" y="2145058"/>
            <a:ext cx="165036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/>
          <p:cNvSpPr/>
          <p:nvPr/>
        </p:nvSpPr>
        <p:spPr>
          <a:xfrm rot="5400000">
            <a:off x="7364710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9541116" y="2145058"/>
            <a:ext cx="165036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5400000">
            <a:off x="9664893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361015" y="2145058"/>
            <a:ext cx="2145461" cy="2712261"/>
          </a:xfrm>
          <a:prstGeom prst="roundRect">
            <a:avLst/>
          </a:prstGeom>
          <a:solidFill>
            <a:srgbClr val="F5F9F2"/>
          </a:solidFill>
          <a:ln w="10160">
            <a:solidFill>
              <a:srgbClr val="DA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71329" y="2155371"/>
            <a:ext cx="2124832" cy="855960"/>
          </a:xfrm>
          <a:prstGeom prst="rect">
            <a:avLst/>
          </a:prstGeom>
          <a:solidFill>
            <a:srgbClr val="F6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2764345" y="2145058"/>
            <a:ext cx="2145461" cy="2712261"/>
          </a:xfrm>
          <a:prstGeom prst="roundRect">
            <a:avLst/>
          </a:prstGeom>
          <a:solidFill>
            <a:srgbClr val="F5F9F2"/>
          </a:solidFill>
          <a:ln w="10160">
            <a:solidFill>
              <a:srgbClr val="DA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2774659" y="2155371"/>
            <a:ext cx="2124832" cy="855960"/>
          </a:xfrm>
          <a:prstGeom prst="rect">
            <a:avLst/>
          </a:prstGeom>
          <a:solidFill>
            <a:srgbClr val="F6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064527" y="2145058"/>
            <a:ext cx="2145461" cy="2712261"/>
          </a:xfrm>
          <a:prstGeom prst="roundRect">
            <a:avLst/>
          </a:prstGeom>
          <a:solidFill>
            <a:srgbClr val="F5F9F2"/>
          </a:solidFill>
          <a:ln w="10160">
            <a:solidFill>
              <a:srgbClr val="DA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074842" y="2155371"/>
            <a:ext cx="2124832" cy="855960"/>
          </a:xfrm>
          <a:prstGeom prst="rect">
            <a:avLst/>
          </a:prstGeom>
          <a:solidFill>
            <a:srgbClr val="F6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7364710" y="2145058"/>
            <a:ext cx="2145461" cy="2712261"/>
          </a:xfrm>
          <a:prstGeom prst="roundRect">
            <a:avLst/>
          </a:prstGeom>
          <a:solidFill>
            <a:srgbClr val="FFF8F3"/>
          </a:solidFill>
          <a:ln w="10160">
            <a:solidFill>
              <a:srgbClr val="F4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375025" y="2155371"/>
            <a:ext cx="2124832" cy="8559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9726781" y="2145058"/>
            <a:ext cx="2145461" cy="2712261"/>
          </a:xfrm>
          <a:prstGeom prst="roundRect">
            <a:avLst/>
          </a:prstGeom>
          <a:solidFill>
            <a:srgbClr val="F9FAF8"/>
          </a:solidFill>
          <a:ln w="10160">
            <a:solidFill>
              <a:srgbClr val="D9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737096" y="2155371"/>
            <a:ext cx="2124832" cy="85596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113989" y="1763485"/>
            <a:ext cx="639512" cy="639392"/>
          </a:xfrm>
          <a:prstGeom prst="ellipse">
            <a:avLst/>
          </a:prstGeom>
          <a:solidFill>
            <a:srgbClr val="B4DAD3"/>
          </a:solidFill>
          <a:ln w="12700">
            <a:solidFill>
              <a:srgbClr val="B4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155248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186192" y="1835675"/>
            <a:ext cx="495106" cy="495013"/>
          </a:xfrm>
          <a:prstGeom prst="ellipse">
            <a:avLst/>
          </a:prstGeom>
          <a:solidFill>
            <a:srgbClr val="116B70"/>
          </a:solidFill>
          <a:ln w="12700">
            <a:solidFill>
              <a:srgbClr val="11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86192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100" name="Oval 99"/>
          <p:cNvSpPr/>
          <p:nvPr/>
        </p:nvSpPr>
        <p:spPr>
          <a:xfrm>
            <a:off x="3517319" y="1763485"/>
            <a:ext cx="639512" cy="639392"/>
          </a:xfrm>
          <a:prstGeom prst="ellipse">
            <a:avLst/>
          </a:prstGeom>
          <a:solidFill>
            <a:srgbClr val="C6E0C4"/>
          </a:solidFill>
          <a:ln w="12700">
            <a:solidFill>
              <a:srgbClr val="C6E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3558578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3589522" y="1835675"/>
            <a:ext cx="495106" cy="495013"/>
          </a:xfrm>
          <a:prstGeom prst="ellipse">
            <a:avLst/>
          </a:prstGeom>
          <a:solidFill>
            <a:srgbClr val="46976D"/>
          </a:solidFill>
          <a:ln w="12700">
            <a:solidFill>
              <a:srgbClr val="4697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589522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104" name="Oval 103"/>
          <p:cNvSpPr/>
          <p:nvPr/>
        </p:nvSpPr>
        <p:spPr>
          <a:xfrm>
            <a:off x="5817502" y="1763485"/>
            <a:ext cx="639512" cy="639392"/>
          </a:xfrm>
          <a:prstGeom prst="ellipse">
            <a:avLst/>
          </a:prstGeom>
          <a:solidFill>
            <a:srgbClr val="BFE0C6"/>
          </a:solidFill>
          <a:ln w="12700">
            <a:solidFill>
              <a:srgbClr val="BFE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858761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5889705" y="1835675"/>
            <a:ext cx="495106" cy="49501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889705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108" name="Oval 107"/>
          <p:cNvSpPr/>
          <p:nvPr/>
        </p:nvSpPr>
        <p:spPr>
          <a:xfrm>
            <a:off x="8117685" y="1763485"/>
            <a:ext cx="639512" cy="639392"/>
          </a:xfrm>
          <a:prstGeom prst="ellipse">
            <a:avLst/>
          </a:prstGeom>
          <a:solidFill>
            <a:srgbClr val="FFC9B1"/>
          </a:solidFill>
          <a:ln w="12700">
            <a:solidFill>
              <a:srgbClr val="FFC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158943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189888" y="1835675"/>
            <a:ext cx="495106" cy="495013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189888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112" name="Oval 111"/>
          <p:cNvSpPr/>
          <p:nvPr/>
        </p:nvSpPr>
        <p:spPr>
          <a:xfrm>
            <a:off x="10479756" y="1763485"/>
            <a:ext cx="639512" cy="639392"/>
          </a:xfrm>
          <a:prstGeom prst="ellipse">
            <a:avLst/>
          </a:prstGeom>
          <a:solidFill>
            <a:srgbClr val="D6D8D8"/>
          </a:solidFill>
          <a:ln w="12700">
            <a:solidFill>
              <a:srgbClr val="D6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0521014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0551959" y="1835675"/>
            <a:ext cx="495106" cy="495013"/>
          </a:xfrm>
          <a:prstGeom prst="ellipse">
            <a:avLst/>
          </a:prstGeom>
          <a:solidFill>
            <a:srgbClr val="919799"/>
          </a:solidFill>
          <a:ln w="12700">
            <a:solidFill>
              <a:srgbClr val="9197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551959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5736" y="2464754"/>
            <a:ext cx="1836020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55358"/>
                </a:solidFill>
                <a:latin typeface="Microsoft YaHei"/>
              </a:rPr>
              <a:t>问题定义与数据构建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8883" y="2712261"/>
            <a:ext cx="1629725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55358"/>
                </a:solidFill>
                <a:latin typeface="Arial"/>
              </a:rPr>
              <a:t>Problem &amp; Data
Definition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60324" y="2464754"/>
            <a:ext cx="1753502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55358"/>
                </a:solidFill>
                <a:latin typeface="Microsoft YaHei"/>
              </a:rPr>
              <a:t>探索性数据分析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50010" y="2722574"/>
            <a:ext cx="1774131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1">
                <a:solidFill>
                  <a:srgbClr val="055358"/>
                </a:solidFill>
                <a:latin typeface="Arial"/>
              </a:rPr>
              <a:t>Exploratory Analysis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08933" y="2464754"/>
            <a:ext cx="1836020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0" b="1">
                <a:solidFill>
                  <a:srgbClr val="055358"/>
                </a:solidFill>
                <a:latin typeface="Microsoft YaHei"/>
              </a:rPr>
              <a:t>基线与简单生成模型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01766" y="2712261"/>
            <a:ext cx="1650355" cy="433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55358"/>
                </a:solidFill>
                <a:latin typeface="Arial"/>
              </a:rPr>
              <a:t>Baseline + Simple
Generative Models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19431" y="2464754"/>
            <a:ext cx="185664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1">
                <a:solidFill>
                  <a:srgbClr val="F66945"/>
                </a:solidFill>
                <a:latin typeface="Microsoft YaHei"/>
              </a:rPr>
              <a:t>完整实验与权衡分析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81319" y="2712261"/>
            <a:ext cx="1732873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>
                <a:solidFill>
                  <a:srgbClr val="F66945"/>
                </a:solidFill>
                <a:latin typeface="Arial"/>
              </a:rPr>
              <a:t>Full Experiments &amp;
Trade-off Analysis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02131" y="2464754"/>
            <a:ext cx="1753502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1">
                <a:solidFill>
                  <a:srgbClr val="535E5F"/>
                </a:solidFill>
                <a:latin typeface="Microsoft YaHei"/>
              </a:rPr>
              <a:t>最终报告与展示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87796" y="2722574"/>
            <a:ext cx="1392487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>
                <a:solidFill>
                  <a:srgbClr val="535E5F"/>
                </a:solidFill>
                <a:latin typeface="Arial"/>
              </a:rPr>
              <a:t>Final Report</a:t>
            </a:r>
          </a:p>
        </p:txBody>
      </p:sp>
      <p:sp>
        <p:nvSpPr>
          <p:cNvPr id="126" name="Oval 125"/>
          <p:cNvSpPr/>
          <p:nvPr/>
        </p:nvSpPr>
        <p:spPr>
          <a:xfrm>
            <a:off x="515736" y="3145398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15736" y="3135085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6436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明确研究问题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66436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Define research scope</a:t>
            </a:r>
          </a:p>
        </p:txBody>
      </p:sp>
      <p:sp>
        <p:nvSpPr>
          <p:cNvPr id="130" name="Oval 129"/>
          <p:cNvSpPr/>
          <p:nvPr/>
        </p:nvSpPr>
        <p:spPr>
          <a:xfrm>
            <a:off x="515736" y="356822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15736" y="3557909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6436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构建 GvpA 数据集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6436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Build GvpA dataset</a:t>
            </a:r>
          </a:p>
        </p:txBody>
      </p:sp>
      <p:sp>
        <p:nvSpPr>
          <p:cNvPr id="134" name="Oval 133"/>
          <p:cNvSpPr/>
          <p:nvPr/>
        </p:nvSpPr>
        <p:spPr>
          <a:xfrm>
            <a:off x="515736" y="3991046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15736" y="3980733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6436" y="3960108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数据预处理与划分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66436" y="4186989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Data preprocessing
&amp; split</a:t>
            </a:r>
          </a:p>
        </p:txBody>
      </p:sp>
      <p:sp>
        <p:nvSpPr>
          <p:cNvPr id="138" name="Oval 137"/>
          <p:cNvSpPr/>
          <p:nvPr/>
        </p:nvSpPr>
        <p:spPr>
          <a:xfrm>
            <a:off x="2950010" y="3145398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950010" y="3135085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00710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序列统计分析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00710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Sequence analysis</a:t>
            </a:r>
          </a:p>
        </p:txBody>
      </p:sp>
      <p:sp>
        <p:nvSpPr>
          <p:cNvPr id="142" name="Oval 141"/>
          <p:cNvSpPr/>
          <p:nvPr/>
        </p:nvSpPr>
        <p:spPr>
          <a:xfrm>
            <a:off x="2950010" y="356822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950010" y="3557909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00710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可视化与模式发现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00710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Visualization &amp;
pattern discovery</a:t>
            </a:r>
          </a:p>
        </p:txBody>
      </p:sp>
      <p:sp>
        <p:nvSpPr>
          <p:cNvPr id="146" name="Oval 145"/>
          <p:cNvSpPr/>
          <p:nvPr/>
        </p:nvSpPr>
        <p:spPr>
          <a:xfrm>
            <a:off x="2950010" y="412511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950010" y="4114800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00710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生物学特征分析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00710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Biological feature analysis</a:t>
            </a:r>
          </a:p>
        </p:txBody>
      </p:sp>
      <p:sp>
        <p:nvSpPr>
          <p:cNvPr id="150" name="Oval 149"/>
          <p:cNvSpPr/>
          <p:nvPr/>
        </p:nvSpPr>
        <p:spPr>
          <a:xfrm>
            <a:off x="5260507" y="3145398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260507" y="3135085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11207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基线方法实现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11207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Baseline generation</a:t>
            </a:r>
          </a:p>
        </p:txBody>
      </p:sp>
      <p:sp>
        <p:nvSpPr>
          <p:cNvPr id="154" name="Oval 153"/>
          <p:cNvSpPr/>
          <p:nvPr/>
        </p:nvSpPr>
        <p:spPr>
          <a:xfrm>
            <a:off x="5260507" y="356822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260507" y="3557909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11207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简单生成模型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611207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Simple generative models
(e.g., RNN, VAE)</a:t>
            </a:r>
          </a:p>
        </p:txBody>
      </p:sp>
      <p:sp>
        <p:nvSpPr>
          <p:cNvPr id="158" name="Oval 157"/>
          <p:cNvSpPr/>
          <p:nvPr/>
        </p:nvSpPr>
        <p:spPr>
          <a:xfrm>
            <a:off x="5260507" y="412511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260507" y="4114800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11207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初步结果分析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611207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Preliminary results</a:t>
            </a:r>
          </a:p>
        </p:txBody>
      </p:sp>
      <p:sp>
        <p:nvSpPr>
          <p:cNvPr id="162" name="Oval 161"/>
          <p:cNvSpPr/>
          <p:nvPr/>
        </p:nvSpPr>
        <p:spPr>
          <a:xfrm>
            <a:off x="7540060" y="3145398"/>
            <a:ext cx="206294" cy="206255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890761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多模型实验比较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890761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Compare multiple models</a:t>
            </a:r>
          </a:p>
        </p:txBody>
      </p:sp>
      <p:sp>
        <p:nvSpPr>
          <p:cNvPr id="165" name="Oval 164"/>
          <p:cNvSpPr/>
          <p:nvPr/>
        </p:nvSpPr>
        <p:spPr>
          <a:xfrm>
            <a:off x="7540060" y="356822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3F6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7890761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新颖性-多样性权衡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890761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Novelty-diversity trade-off</a:t>
            </a:r>
          </a:p>
        </p:txBody>
      </p:sp>
      <p:sp>
        <p:nvSpPr>
          <p:cNvPr id="168" name="Oval 167"/>
          <p:cNvSpPr/>
          <p:nvPr/>
        </p:nvSpPr>
        <p:spPr>
          <a:xfrm>
            <a:off x="7540060" y="412511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3F6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890761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深入结果分析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890761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In-depth analysis</a:t>
            </a:r>
          </a:p>
        </p:txBody>
      </p:sp>
      <p:sp>
        <p:nvSpPr>
          <p:cNvPr id="171" name="Oval 170"/>
          <p:cNvSpPr/>
          <p:nvPr/>
        </p:nvSpPr>
        <p:spPr>
          <a:xfrm>
            <a:off x="9943390" y="3145398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87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10294091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535E5F"/>
                </a:solidFill>
                <a:latin typeface="Microsoft YaHei"/>
              </a:rPr>
              <a:t>完整实验结果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294091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636F6F"/>
                </a:solidFill>
                <a:latin typeface="Arial"/>
              </a:rPr>
              <a:t>Complete results</a:t>
            </a:r>
          </a:p>
        </p:txBody>
      </p:sp>
      <p:sp>
        <p:nvSpPr>
          <p:cNvPr id="174" name="Oval 173"/>
          <p:cNvSpPr/>
          <p:nvPr/>
        </p:nvSpPr>
        <p:spPr>
          <a:xfrm>
            <a:off x="9943390" y="356822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87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0294091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535E5F"/>
                </a:solidFill>
                <a:latin typeface="Microsoft YaHei"/>
              </a:rPr>
              <a:t>撰写论文/报告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294091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636F6F"/>
                </a:solidFill>
                <a:latin typeface="Arial"/>
              </a:rPr>
              <a:t>Write report</a:t>
            </a:r>
          </a:p>
        </p:txBody>
      </p:sp>
      <p:sp>
        <p:nvSpPr>
          <p:cNvPr id="177" name="Oval 176"/>
          <p:cNvSpPr/>
          <p:nvPr/>
        </p:nvSpPr>
        <p:spPr>
          <a:xfrm>
            <a:off x="9943390" y="412511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87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294091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535E5F"/>
                </a:solidFill>
                <a:latin typeface="Microsoft YaHei"/>
              </a:rPr>
              <a:t>准备答辩与展示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294091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636F6F"/>
                </a:solidFill>
                <a:latin typeface="Arial"/>
              </a:rPr>
              <a:t>Prepare presentation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84791" y="4486060"/>
            <a:ext cx="1866964" cy="340321"/>
          </a:xfrm>
          <a:prstGeom prst="roundRect">
            <a:avLst/>
          </a:prstGeom>
          <a:solidFill>
            <a:srgbClr val="E8F5E3"/>
          </a:solidFill>
          <a:ln w="10160">
            <a:solidFill>
              <a:srgbClr val="DB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763289" y="4537624"/>
            <a:ext cx="237238" cy="23719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63289" y="4527311"/>
            <a:ext cx="23723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96507" y="4558249"/>
            <a:ext cx="670456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55358"/>
                </a:solidFill>
                <a:latin typeface="Microsoft YaHei"/>
              </a:rPr>
              <a:t>已完成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22558" y="4558249"/>
            <a:ext cx="515736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055358"/>
                </a:solidFill>
                <a:latin typeface="Arial"/>
              </a:rPr>
              <a:t>Done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888121" y="4486060"/>
            <a:ext cx="1908223" cy="340321"/>
          </a:xfrm>
          <a:prstGeom prst="roundRect">
            <a:avLst/>
          </a:prstGeom>
          <a:solidFill>
            <a:srgbClr val="E8F5E3"/>
          </a:solidFill>
          <a:ln w="10160">
            <a:solidFill>
              <a:srgbClr val="DB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3104730" y="4537624"/>
            <a:ext cx="237238" cy="23719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3104730" y="4527311"/>
            <a:ext cx="23723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527634" y="4558249"/>
            <a:ext cx="722030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055358"/>
                </a:solidFill>
                <a:latin typeface="Microsoft YaHei"/>
              </a:rPr>
              <a:t>基本完成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094944" y="4558249"/>
            <a:ext cx="59825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55358"/>
                </a:solidFill>
                <a:latin typeface="Arial"/>
              </a:rPr>
              <a:t>Mostly done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177989" y="4486060"/>
            <a:ext cx="1908223" cy="340321"/>
          </a:xfrm>
          <a:prstGeom prst="roundRect">
            <a:avLst/>
          </a:prstGeom>
          <a:solidFill>
            <a:srgbClr val="E8F5E3"/>
          </a:solidFill>
          <a:ln w="10160">
            <a:solidFill>
              <a:srgbClr val="DB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5384284" y="4537624"/>
            <a:ext cx="237238" cy="23719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5384284" y="4527311"/>
            <a:ext cx="23723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796872" y="4558249"/>
            <a:ext cx="722030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055358"/>
                </a:solidFill>
                <a:latin typeface="Microsoft YaHei"/>
              </a:rPr>
              <a:t>基本完成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395126" y="4558249"/>
            <a:ext cx="629197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055358"/>
                </a:solidFill>
                <a:latin typeface="Arial"/>
              </a:rPr>
              <a:t>Basically done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7478172" y="4486060"/>
            <a:ext cx="1908223" cy="340321"/>
          </a:xfrm>
          <a:prstGeom prst="roundRect">
            <a:avLst/>
          </a:prstGeom>
          <a:solidFill>
            <a:srgbClr val="FEEFE1"/>
          </a:solidFill>
          <a:ln w="10160">
            <a:solidFill>
              <a:srgbClr val="FC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7917579" y="4626313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7888621" y="4705861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7815296" y="4748187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7731914" y="4733487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7677490" y="4668640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7677490" y="4583987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7731914" y="4519140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7815296" y="4504440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888621" y="4546766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8086740" y="4558249"/>
            <a:ext cx="61888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F66945"/>
                </a:solidFill>
                <a:latin typeface="Microsoft YaHei"/>
              </a:rPr>
              <a:t>进行中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602476" y="4558249"/>
            <a:ext cx="722030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F66945"/>
                </a:solidFill>
                <a:latin typeface="Arial"/>
              </a:rPr>
              <a:t>In progress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9850558" y="4486060"/>
            <a:ext cx="1897908" cy="340321"/>
          </a:xfrm>
          <a:prstGeom prst="roundRect">
            <a:avLst/>
          </a:prstGeom>
          <a:solidFill>
            <a:srgbClr val="F1F3F1"/>
          </a:solidFill>
          <a:ln w="10160">
            <a:solidFill>
              <a:srgbClr val="E1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10129055" y="4537624"/>
            <a:ext cx="237238" cy="237193"/>
          </a:xfrm>
          <a:prstGeom prst="ellipse">
            <a:avLst/>
          </a:prstGeom>
          <a:solidFill>
            <a:srgbClr val="3F6F77"/>
          </a:solidFill>
          <a:ln w="12700">
            <a:solidFill>
              <a:srgbClr val="3F6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9" name="Connector 208"/>
          <p:cNvCxnSpPr/>
          <p:nvPr/>
        </p:nvCxnSpPr>
        <p:spPr>
          <a:xfrm flipV="1">
            <a:off x="10247674" y="4594344"/>
            <a:ext cx="0" cy="6187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247674" y="4656221"/>
            <a:ext cx="51574" cy="1546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10438497" y="4558249"/>
            <a:ext cx="567309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535E5F"/>
                </a:solidFill>
                <a:latin typeface="Microsoft YaHei"/>
              </a:rPr>
              <a:t>待开始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974862" y="4558249"/>
            <a:ext cx="711715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535E5F"/>
                </a:solidFill>
                <a:latin typeface="Arial"/>
              </a:rPr>
              <a:t>Upcoming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61015" y="4991386"/>
            <a:ext cx="8519959" cy="1381912"/>
          </a:xfrm>
          <a:prstGeom prst="roundRect">
            <a:avLst/>
          </a:prstGeom>
          <a:solidFill>
            <a:srgbClr val="FFFCF9"/>
          </a:solidFill>
          <a:ln w="12700">
            <a:solidFill>
              <a:srgbClr val="F8B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536365" y="5053263"/>
            <a:ext cx="556994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55358"/>
                </a:solidFill>
                <a:latin typeface="Microsoft YaHei"/>
              </a:rPr>
              <a:t>题目具体要求（GV02-01） /  Key Requirements（GV02-01）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26050" y="5311082"/>
            <a:ext cx="1939167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ounded Rectangle 215"/>
          <p:cNvSpPr/>
          <p:nvPr/>
        </p:nvSpPr>
        <p:spPr>
          <a:xfrm>
            <a:off x="2578680" y="5311082"/>
            <a:ext cx="1939167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ounded Rectangle 216"/>
          <p:cNvSpPr/>
          <p:nvPr/>
        </p:nvSpPr>
        <p:spPr>
          <a:xfrm>
            <a:off x="4641624" y="5311082"/>
            <a:ext cx="1939167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ounded Rectangle 217"/>
          <p:cNvSpPr/>
          <p:nvPr/>
        </p:nvSpPr>
        <p:spPr>
          <a:xfrm>
            <a:off x="6704568" y="5311082"/>
            <a:ext cx="2001055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Picture 218" descr="req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39" y="5372959"/>
            <a:ext cx="371329" cy="371260"/>
          </a:xfrm>
          <a:prstGeom prst="rect">
            <a:avLst/>
          </a:prstGeom>
        </p:spPr>
      </p:pic>
      <p:pic>
        <p:nvPicPr>
          <p:cNvPr id="220" name="Picture 219" descr="req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568" y="5372959"/>
            <a:ext cx="371329" cy="371260"/>
          </a:xfrm>
          <a:prstGeom prst="rect">
            <a:avLst/>
          </a:prstGeom>
        </p:spPr>
      </p:pic>
      <p:pic>
        <p:nvPicPr>
          <p:cNvPr id="221" name="Picture 220" descr="req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3512" y="5372959"/>
            <a:ext cx="371329" cy="371260"/>
          </a:xfrm>
          <a:prstGeom prst="rect">
            <a:avLst/>
          </a:prstGeom>
        </p:spPr>
      </p:pic>
      <p:pic>
        <p:nvPicPr>
          <p:cNvPr id="222" name="Picture 221" descr="req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456" y="5372959"/>
            <a:ext cx="371329" cy="371260"/>
          </a:xfrm>
          <a:prstGeom prst="rect">
            <a:avLst/>
          </a:prstGeom>
        </p:spPr>
      </p:pic>
      <p:sp>
        <p:nvSpPr>
          <p:cNvPr id="223" name="TextBox 222"/>
          <p:cNvSpPr txBox="1"/>
          <p:nvPr/>
        </p:nvSpPr>
        <p:spPr>
          <a:xfrm>
            <a:off x="1041786" y="5372959"/>
            <a:ext cx="13409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55358"/>
                </a:solidFill>
                <a:latin typeface="Microsoft YaHei"/>
              </a:rPr>
              <a:t>1. 基线生成方法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41786" y="5568902"/>
            <a:ext cx="1340913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116B70"/>
                </a:solidFill>
                <a:latin typeface="Arial"/>
              </a:rPr>
              <a:t>Baseline generation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98253" y="5878285"/>
            <a:ext cx="175350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116B70"/>
                </a:solidFill>
                <a:latin typeface="Microsoft YaHei"/>
              </a:rPr>
              <a:t>实现并评价基线生成方法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98253" y="6074228"/>
            <a:ext cx="1794761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3F6F77"/>
                </a:solidFill>
                <a:latin typeface="Arial"/>
              </a:rPr>
              <a:t>Implement and evaluate
baseline generation methods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094416" y="5372959"/>
            <a:ext cx="149563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055358"/>
                </a:solidFill>
                <a:latin typeface="Microsoft YaHei"/>
              </a:rPr>
              <a:t>2. 至少两种深度生成模型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094416" y="5568902"/>
            <a:ext cx="1495634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>
                <a:solidFill>
                  <a:srgbClr val="116B70"/>
                </a:solidFill>
                <a:latin typeface="Arial"/>
              </a:rPr>
              <a:t>At least two deep generative models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661197" y="5878285"/>
            <a:ext cx="178444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16B70"/>
                </a:solidFill>
                <a:latin typeface="Microsoft YaHei"/>
              </a:rPr>
              <a:t>实现至少两种深度生成模型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661197" y="6074228"/>
            <a:ext cx="1774131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F6F77"/>
                </a:solidFill>
                <a:latin typeface="Arial"/>
              </a:rPr>
              <a:t>Implement at least two
deep generative models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157360" y="5372959"/>
            <a:ext cx="13409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55358"/>
                </a:solidFill>
                <a:latin typeface="Microsoft YaHei"/>
              </a:rPr>
              <a:t>3. 多指标评估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157360" y="5568902"/>
            <a:ext cx="1340913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116B70"/>
                </a:solidFill>
                <a:latin typeface="Arial"/>
              </a:rPr>
              <a:t>Multi-metric evaluation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734456" y="5878285"/>
            <a:ext cx="171224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116B70"/>
                </a:solidFill>
                <a:latin typeface="Microsoft YaHei"/>
              </a:rPr>
              <a:t>使用多个评价指标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734456" y="6074228"/>
            <a:ext cx="175350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F6F77"/>
                </a:solidFill>
                <a:latin typeface="Arial"/>
              </a:rPr>
              <a:t>(e.g., validity, novelty, diversity)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240933" y="5372959"/>
            <a:ext cx="13409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55358"/>
                </a:solidFill>
                <a:latin typeface="Microsoft YaHei"/>
              </a:rPr>
              <a:t>4. 嵌入空间分析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240933" y="5568902"/>
            <a:ext cx="1361543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>
                <a:solidFill>
                  <a:srgbClr val="116B70"/>
                </a:solidFill>
                <a:latin typeface="Arial"/>
              </a:rPr>
              <a:t>Embedding-space analysis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97400" y="5878285"/>
            <a:ext cx="178444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16B70"/>
                </a:solidFill>
                <a:latin typeface="Microsoft YaHei"/>
              </a:rPr>
              <a:t>在嵌入空间中分析生成结果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97400" y="6074228"/>
            <a:ext cx="1784446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F6F77"/>
                </a:solidFill>
                <a:latin typeface="Arial"/>
              </a:rPr>
              <a:t>Analyze generated sequences
in embedding space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8973806" y="4991386"/>
            <a:ext cx="2867492" cy="1381912"/>
          </a:xfrm>
          <a:prstGeom prst="roundRect">
            <a:avLst/>
          </a:prstGeom>
          <a:solidFill>
            <a:srgbClr val="FFF3F6"/>
          </a:solidFill>
          <a:ln w="12700">
            <a:solidFill>
              <a:srgbClr val="F4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9169786" y="5084201"/>
            <a:ext cx="309441" cy="309383"/>
          </a:xfrm>
          <a:prstGeom prst="ellipse">
            <a:avLst/>
          </a:prstGeom>
          <a:solidFill>
            <a:srgbClr val="E9255C"/>
          </a:solidFill>
          <a:ln w="12700">
            <a:solidFill>
              <a:srgbClr val="E92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Isosceles Triangle 240"/>
          <p:cNvSpPr/>
          <p:nvPr/>
        </p:nvSpPr>
        <p:spPr>
          <a:xfrm rot="10800000">
            <a:off x="9262619" y="5311082"/>
            <a:ext cx="134091" cy="185630"/>
          </a:xfrm>
          <a:prstGeom prst="triangle">
            <a:avLst/>
          </a:prstGeom>
          <a:solidFill>
            <a:srgbClr val="E9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9283248" y="5177016"/>
            <a:ext cx="82517" cy="825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9603004" y="5084201"/>
            <a:ext cx="2062944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>
                <a:solidFill>
                  <a:srgbClr val="E9255C"/>
                </a:solidFill>
                <a:latin typeface="Microsoft YaHei"/>
              </a:rPr>
              <a:t>当前位置于 M3 – M4 之间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603004" y="5331708"/>
            <a:ext cx="2062944" cy="391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9255C"/>
                </a:solidFill>
                <a:latin typeface="Arial"/>
              </a:rPr>
              <a:t>Current Position:
between M3 and M4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9283248" y="5919536"/>
            <a:ext cx="2248609" cy="0"/>
          </a:xfrm>
          <a:prstGeom prst="line">
            <a:avLst/>
          </a:prstGeom>
          <a:ln w="29209">
            <a:solidFill>
              <a:srgbClr val="BCC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283248" y="5919536"/>
            <a:ext cx="1650355" cy="0"/>
          </a:xfrm>
          <a:prstGeom prst="line">
            <a:avLst/>
          </a:prstGeom>
          <a:ln w="29209">
            <a:solidFill>
              <a:srgbClr val="188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55979" y="5919536"/>
            <a:ext cx="577624" cy="0"/>
          </a:xfrm>
          <a:prstGeom prst="line">
            <a:avLst/>
          </a:prstGeom>
          <a:ln w="29209">
            <a:solidFill>
              <a:srgbClr val="F669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Oval 247"/>
          <p:cNvSpPr/>
          <p:nvPr/>
        </p:nvSpPr>
        <p:spPr>
          <a:xfrm>
            <a:off x="9211045" y="5826721"/>
            <a:ext cx="185664" cy="185630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9757725" y="5826721"/>
            <a:ext cx="185664" cy="185630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10294091" y="5826721"/>
            <a:ext cx="185664" cy="185630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840771" y="5826721"/>
            <a:ext cx="185664" cy="185630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1377136" y="5826721"/>
            <a:ext cx="185664" cy="185630"/>
          </a:xfrm>
          <a:prstGeom prst="ellipse">
            <a:avLst/>
          </a:prstGeom>
          <a:solidFill>
            <a:srgbClr val="AAB0B1"/>
          </a:solidFill>
          <a:ln w="12700">
            <a:solidFill>
              <a:srgbClr val="AA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Isosceles Triangle 252"/>
          <p:cNvSpPr/>
          <p:nvPr/>
        </p:nvSpPr>
        <p:spPr>
          <a:xfrm rot="10800000">
            <a:off x="10871715" y="5682342"/>
            <a:ext cx="144406" cy="113440"/>
          </a:xfrm>
          <a:prstGeom prst="triangle">
            <a:avLst/>
          </a:prstGeom>
          <a:solidFill>
            <a:srgbClr val="E9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9149157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55358"/>
                </a:solidFill>
                <a:latin typeface="Arial"/>
              </a:rPr>
              <a:t>M1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695837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55358"/>
                </a:solidFill>
                <a:latin typeface="Arial"/>
              </a:rPr>
              <a:t>M2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232202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55358"/>
                </a:solidFill>
                <a:latin typeface="Arial"/>
              </a:rPr>
              <a:t>M3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778882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66945"/>
                </a:solidFill>
                <a:latin typeface="Arial"/>
              </a:rPr>
              <a:t>M4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1315248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535E5F"/>
                </a:solidFill>
                <a:latin typeface="Arial"/>
              </a:rPr>
              <a:t>M5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012954" y="6466114"/>
            <a:ext cx="2114517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0" b="0">
                <a:solidFill>
                  <a:srgbClr val="116B70"/>
                </a:solidFill>
                <a:latin typeface="Arial"/>
              </a:rPr>
              <a:t>Research Group   |   2024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4775715" y="6651744"/>
            <a:ext cx="2578680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70" b="0">
                <a:solidFill>
                  <a:srgbClr val="116B70"/>
                </a:solidFill>
                <a:latin typeface="Arial"/>
              </a:rPr>
              <a:t>Sequence  ·  Structure  ·  Function  ·  Design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459654" y="6610493"/>
            <a:ext cx="46416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055358"/>
                </a:solidFill>
                <a:latin typeface="Arial"/>
              </a:rPr>
              <a:t>4 / 12</a:t>
            </a:r>
          </a:p>
        </p:txBody>
      </p:sp>
    </p:spTree>
    <p:extLst>
      <p:ext uri="{BB962C8B-B14F-4D97-AF65-F5344CB8AC3E}">
        <p14:creationId xmlns:p14="http://schemas.microsoft.com/office/powerpoint/2010/main" val="696528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38100"/>
          </a:xfrm>
          <a:prstGeom prst="rect">
            <a:avLst/>
          </a:prstGeom>
          <a:solidFill>
            <a:srgbClr val="D2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otein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558" y="185630"/>
            <a:ext cx="2341441" cy="3764165"/>
          </a:xfrm>
          <a:prstGeom prst="rect">
            <a:avLst/>
          </a:prstGeom>
        </p:spPr>
      </p:pic>
      <p:pic>
        <p:nvPicPr>
          <p:cNvPr id="4" name="Picture 3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5720"/>
            <a:ext cx="3403857" cy="3372279"/>
          </a:xfrm>
          <a:prstGeom prst="rect">
            <a:avLst/>
          </a:prstGeom>
        </p:spPr>
      </p:pic>
      <p:pic>
        <p:nvPicPr>
          <p:cNvPr id="5" name="Picture 4" descr="bottom_center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416" y="5775157"/>
            <a:ext cx="4744771" cy="1082842"/>
          </a:xfrm>
          <a:prstGeom prst="rect">
            <a:avLst/>
          </a:prstGeom>
        </p:spPr>
      </p:pic>
      <p:pic>
        <p:nvPicPr>
          <p:cNvPr id="6" name="Picture 5" descr="bottom_right_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263" y="5362646"/>
            <a:ext cx="2547735" cy="149535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097055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0832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44608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68385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2162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15938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39715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63492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97055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0832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44608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68385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2162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15938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39715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3492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97055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20832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44608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68385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92162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715938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39715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3492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97055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0832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4608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468385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592162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15938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39715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963492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97055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220832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44608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468385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592162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715938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839715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963492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449339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552487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655634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758781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861928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1965075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449339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552487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655634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758781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861928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965075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449339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552487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655634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758781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861928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965075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449339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552487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655634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758781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861928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965075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449339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552487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655634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758781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1861928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965075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91959" y="350634"/>
            <a:ext cx="7839187" cy="515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55459"/>
                </a:solidFill>
                <a:latin typeface="Microsoft YaHei"/>
              </a:rPr>
              <a:t>数据构建与划分  /  Dataset Construction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959" y="928150"/>
            <a:ext cx="7220304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0" b="1">
                <a:solidFill>
                  <a:srgbClr val="116C70"/>
                </a:solidFill>
                <a:latin typeface="Microsoft YaHei"/>
              </a:rPr>
              <a:t>构建高质量的蓝藻 GvpA 蛋白序列数据集，用于生成与评估研究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1959" y="1227221"/>
            <a:ext cx="752974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16C70"/>
                </a:solidFill>
                <a:latin typeface="Arial"/>
              </a:rPr>
              <a:t>Build a high-quality cyanobacterial GvpA protein dataset for generation and evaluation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30071" y="1577855"/>
            <a:ext cx="3115045" cy="4867633"/>
          </a:xfrm>
          <a:prstGeom prst="roundRect">
            <a:avLst/>
          </a:prstGeom>
          <a:solidFill>
            <a:srgbClr val="FEFDF8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527634" y="1577855"/>
            <a:ext cx="4177461" cy="4867633"/>
          </a:xfrm>
          <a:prstGeom prst="roundRect">
            <a:avLst/>
          </a:prstGeom>
          <a:solidFill>
            <a:srgbClr val="FEFDF8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7766984" y="1577855"/>
            <a:ext cx="3847390" cy="4867633"/>
          </a:xfrm>
          <a:prstGeom prst="roundRect">
            <a:avLst/>
          </a:prstGeom>
          <a:solidFill>
            <a:srgbClr val="FEFDF8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db_m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18" y="1691296"/>
            <a:ext cx="670456" cy="77345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258395" y="1753172"/>
            <a:ext cx="1856649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55459"/>
                </a:solidFill>
                <a:latin typeface="Microsoft YaHei"/>
              </a:rPr>
              <a:t>最终冻结数据集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58395" y="2041930"/>
            <a:ext cx="190822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055459"/>
                </a:solidFill>
                <a:latin typeface="Arial"/>
              </a:rPr>
              <a:t>Final Frozen Dataset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5106" y="2557569"/>
            <a:ext cx="2795289" cy="1691296"/>
          </a:xfrm>
          <a:prstGeom prst="roundRect">
            <a:avLst/>
          </a:prstGeom>
          <a:solidFill>
            <a:srgbClr val="F8FAF3"/>
          </a:solidFill>
          <a:ln w="10160">
            <a:solidFill>
              <a:srgbClr val="F8F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59269" y="2557569"/>
            <a:ext cx="1856649" cy="598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055459"/>
                </a:solidFill>
                <a:latin typeface="Arial"/>
              </a:rPr>
              <a:t>165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2659" y="3300090"/>
            <a:ext cx="2310497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70" b="1">
                <a:solidFill>
                  <a:srgbClr val="116C70"/>
                </a:solidFill>
                <a:latin typeface="Microsoft YaHei"/>
              </a:rPr>
              <a:t>高质量蓝藻 GvpA 序列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289" y="3609473"/>
            <a:ext cx="2269238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16C70"/>
                </a:solidFill>
                <a:latin typeface="Arial"/>
              </a:rPr>
              <a:t>high-quality cyanobacterial
GvpA sequences</a:t>
            </a:r>
          </a:p>
        </p:txBody>
      </p:sp>
      <p:sp>
        <p:nvSpPr>
          <p:cNvPr id="90" name="Arc 89"/>
          <p:cNvSpPr/>
          <p:nvPr/>
        </p:nvSpPr>
        <p:spPr>
          <a:xfrm rot="10800000">
            <a:off x="577624" y="4032297"/>
            <a:ext cx="2578680" cy="484700"/>
          </a:xfrm>
          <a:prstGeom prst="arc">
            <a:avLst/>
          </a:prstGeom>
          <a:noFill/>
          <a:ln w="20320">
            <a:solidFill>
              <a:srgbClr val="66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495106" y="4589187"/>
            <a:ext cx="2784974" cy="1062216"/>
          </a:xfrm>
          <a:prstGeom prst="roundRect">
            <a:avLst/>
          </a:prstGeom>
          <a:solidFill>
            <a:srgbClr val="F8FAF4"/>
          </a:solidFill>
          <a:ln w="10160">
            <a:solidFill>
              <a:srgbClr val="F8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bacter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050" y="4630439"/>
            <a:ext cx="1010842" cy="97971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485319" y="4702628"/>
            <a:ext cx="1650355" cy="433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16C70"/>
                </a:solidFill>
                <a:latin typeface="Microsoft YaHei"/>
              </a:rPr>
              <a:t>来自 54 个蓝藻物种
覆盖 5 个主要属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85319" y="5187329"/>
            <a:ext cx="1701928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4A6F71"/>
                </a:solidFill>
                <a:latin typeface="Arial"/>
              </a:rPr>
              <a:t>From 54 cyanobacterial species
covering 5 major genera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54558" y="1763485"/>
            <a:ext cx="3403857" cy="29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80" b="1">
                <a:solidFill>
                  <a:srgbClr val="055459"/>
                </a:solidFill>
                <a:latin typeface="Microsoft YaHei"/>
              </a:rPr>
              <a:t>数据划分  /  Dataset Split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1411" y="2145058"/>
            <a:ext cx="1196507" cy="2392565"/>
          </a:xfrm>
          <a:prstGeom prst="roundRect">
            <a:avLst/>
          </a:prstGeom>
          <a:solidFill>
            <a:srgbClr val="FDE8EB"/>
          </a:solidFill>
          <a:ln>
            <a:solidFill>
              <a:srgbClr val="FD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split_trai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3370" y="2289437"/>
            <a:ext cx="433218" cy="464075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3837076" y="2825702"/>
            <a:ext cx="825177" cy="330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E42E5C"/>
                </a:solidFill>
                <a:latin typeface="Arial"/>
              </a:rPr>
              <a:t>139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06131" y="3196962"/>
            <a:ext cx="887065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40" b="1">
                <a:solidFill>
                  <a:srgbClr val="055459"/>
                </a:solidFill>
                <a:latin typeface="Microsoft YaHei"/>
              </a:rPr>
              <a:t>训练集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06131" y="3506345"/>
            <a:ext cx="887065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16C70"/>
                </a:solidFill>
                <a:latin typeface="Arial"/>
              </a:rPr>
              <a:t>Train
(84%)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54558" y="3991046"/>
            <a:ext cx="990213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>
                <a:solidFill>
                  <a:srgbClr val="116C70"/>
                </a:solidFill>
                <a:latin typeface="Microsoft YaHei"/>
              </a:rPr>
              <a:t>用于模型训练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54558" y="4238553"/>
            <a:ext cx="9902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4A6F71"/>
                </a:solidFill>
                <a:latin typeface="Arial"/>
              </a:rPr>
              <a:t>Model training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02639" y="2145058"/>
            <a:ext cx="1196507" cy="2392565"/>
          </a:xfrm>
          <a:prstGeom prst="roundRect">
            <a:avLst/>
          </a:prstGeom>
          <a:solidFill>
            <a:srgbClr val="E5F6EE"/>
          </a:solidFill>
          <a:ln>
            <a:solidFill>
              <a:srgbClr val="E5F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split_val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598" y="2289437"/>
            <a:ext cx="433218" cy="464075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188304" y="2825702"/>
            <a:ext cx="825177" cy="330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5805E"/>
                </a:solidFill>
                <a:latin typeface="Arial"/>
              </a:rPr>
              <a:t>13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57360" y="3196962"/>
            <a:ext cx="887065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40" b="1">
                <a:solidFill>
                  <a:srgbClr val="055459"/>
                </a:solidFill>
                <a:latin typeface="Microsoft YaHei"/>
              </a:rPr>
              <a:t>验证集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57360" y="3506345"/>
            <a:ext cx="887065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16C70"/>
                </a:solidFill>
                <a:latin typeface="Arial"/>
              </a:rPr>
              <a:t>Validation
(8%)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05786" y="3991046"/>
            <a:ext cx="990213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>
                <a:solidFill>
                  <a:srgbClr val="116C70"/>
                </a:solidFill>
                <a:latin typeface="Microsoft YaHei"/>
              </a:rPr>
              <a:t>用于模型选择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05786" y="4238553"/>
            <a:ext cx="9902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4A6F71"/>
                </a:solidFill>
                <a:latin typeface="Arial"/>
              </a:rPr>
              <a:t>Model selection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353867" y="2145058"/>
            <a:ext cx="1196507" cy="2392565"/>
          </a:xfrm>
          <a:prstGeom prst="roundRect">
            <a:avLst/>
          </a:prstGeom>
          <a:solidFill>
            <a:srgbClr val="FFEFDB"/>
          </a:solidFill>
          <a:ln>
            <a:solidFill>
              <a:srgbClr val="FFE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split_test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5827" y="2289437"/>
            <a:ext cx="433218" cy="464075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539532" y="2825702"/>
            <a:ext cx="825177" cy="330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06637"/>
                </a:solidFill>
                <a:latin typeface="Arial"/>
              </a:rPr>
              <a:t>13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08588" y="3196962"/>
            <a:ext cx="887065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40" b="1">
                <a:solidFill>
                  <a:srgbClr val="055459"/>
                </a:solidFill>
                <a:latin typeface="Microsoft YaHei"/>
              </a:rPr>
              <a:t>测试集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08588" y="3506345"/>
            <a:ext cx="887065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16C70"/>
                </a:solidFill>
                <a:latin typeface="Arial"/>
              </a:rPr>
              <a:t>Test
(8%)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57015" y="3991046"/>
            <a:ext cx="990213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>
                <a:solidFill>
                  <a:srgbClr val="116C70"/>
                </a:solidFill>
                <a:latin typeface="Microsoft YaHei"/>
              </a:rPr>
              <a:t>用于最终评估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57015" y="4238553"/>
            <a:ext cx="9902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4A6F71"/>
                </a:solidFill>
                <a:latin typeface="Arial"/>
              </a:rPr>
              <a:t>Final evaluation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661725" y="4702628"/>
            <a:ext cx="3878334" cy="1608793"/>
          </a:xfrm>
          <a:prstGeom prst="roundRect">
            <a:avLst/>
          </a:prstGeom>
          <a:solidFill>
            <a:srgbClr val="FBFCF8"/>
          </a:solidFill>
          <a:ln w="10160">
            <a:solidFill>
              <a:srgbClr val="E2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775187" y="4826381"/>
            <a:ext cx="2681827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55459"/>
                </a:solidFill>
                <a:latin typeface="Microsoft YaHei"/>
              </a:rPr>
              <a:t>数据来源  /  Data Sources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764873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src_ncb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5187" y="5228580"/>
            <a:ext cx="794233" cy="825022"/>
          </a:xfrm>
          <a:prstGeom prst="rect">
            <a:avLst/>
          </a:prstGeom>
        </p:spPr>
      </p:pic>
      <p:sp>
        <p:nvSpPr>
          <p:cNvPr id="122" name="Rounded Rectangle 121"/>
          <p:cNvSpPr/>
          <p:nvPr/>
        </p:nvSpPr>
        <p:spPr>
          <a:xfrm>
            <a:off x="4662253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3" name="Picture 122" descr="src_unipr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2568" y="5228580"/>
            <a:ext cx="794233" cy="825022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5652466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6" name="Picture 125" descr="src_jg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2781" y="5228580"/>
            <a:ext cx="794233" cy="825022"/>
          </a:xfrm>
          <a:prstGeom prst="rect">
            <a:avLst/>
          </a:prstGeom>
        </p:spPr>
      </p:pic>
      <p:sp>
        <p:nvSpPr>
          <p:cNvPr id="128" name="Rounded Rectangle 127"/>
          <p:cNvSpPr/>
          <p:nvPr/>
        </p:nvSpPr>
        <p:spPr>
          <a:xfrm>
            <a:off x="6539532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Picture 128" descr="src_literat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9847" y="5228580"/>
            <a:ext cx="794233" cy="825022"/>
          </a:xfrm>
          <a:prstGeom prst="rect">
            <a:avLst/>
          </a:prstGeom>
        </p:spPr>
      </p:pic>
      <p:pic>
        <p:nvPicPr>
          <p:cNvPr id="131" name="Picture 130" descr="quality_shiel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2020" y="1732547"/>
            <a:ext cx="526050" cy="54657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8499329" y="1732547"/>
            <a:ext cx="2475532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055459"/>
                </a:solidFill>
                <a:latin typeface="Microsoft YaHei"/>
              </a:rPr>
              <a:t>数据质量控制  /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99329" y="2021305"/>
            <a:ext cx="2269238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Arial"/>
              </a:rPr>
              <a:t>Quality Control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921705" y="2444129"/>
            <a:ext cx="3383228" cy="1247846"/>
          </a:xfrm>
          <a:prstGeom prst="roundRect">
            <a:avLst/>
          </a:prstGeom>
          <a:solidFill>
            <a:srgbClr val="F5F9F1"/>
          </a:solidFill>
          <a:ln w="10160">
            <a:solidFill>
              <a:srgbClr val="F5F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5" name="Picture 134" descr="quality_multi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3278" y="2588508"/>
            <a:ext cx="691086" cy="690956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8819086" y="2557569"/>
            <a:ext cx="206294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Microsoft YaHei"/>
              </a:rPr>
              <a:t>多源核验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19086" y="2846327"/>
            <a:ext cx="2166091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116C70"/>
                </a:solidFill>
                <a:latin typeface="Arial"/>
              </a:rPr>
              <a:t>multi-source verification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819086" y="3145398"/>
            <a:ext cx="2227979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116C70"/>
                </a:solidFill>
                <a:latin typeface="Microsoft YaHei"/>
              </a:rPr>
              <a:t>整合公共数据库，交叉验证序列注释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19086" y="3361966"/>
            <a:ext cx="2289867" cy="371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4A6F71"/>
                </a:solidFill>
                <a:latin typeface="Arial"/>
              </a:rPr>
              <a:t>Integrate public databases and
cross-validate annotations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921705" y="3795103"/>
            <a:ext cx="3383228" cy="1216908"/>
          </a:xfrm>
          <a:prstGeom prst="roundRect">
            <a:avLst/>
          </a:prstGeom>
          <a:solidFill>
            <a:srgbClr val="F5F9F1"/>
          </a:solidFill>
          <a:ln w="10160">
            <a:solidFill>
              <a:srgbClr val="F5F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1" name="Picture 140" descr="quality_dedu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3278" y="3939482"/>
            <a:ext cx="691086" cy="690956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8819086" y="3908544"/>
            <a:ext cx="206294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Microsoft YaHei"/>
              </a:rPr>
              <a:t>去冗余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819086" y="4197302"/>
            <a:ext cx="2166091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116C70"/>
                </a:solidFill>
                <a:latin typeface="Arial"/>
              </a:rPr>
              <a:t>de-duplication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19086" y="4496372"/>
            <a:ext cx="2227979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116C70"/>
                </a:solidFill>
                <a:latin typeface="Microsoft YaHei"/>
              </a:rPr>
              <a:t>去除高度相似序列，保留代表性序列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819086" y="4712941"/>
            <a:ext cx="2289867" cy="371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4A6F71"/>
                </a:solidFill>
                <a:latin typeface="Arial"/>
              </a:rPr>
              <a:t>Remove redundant sequences and
keep representative ones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921705" y="5146078"/>
            <a:ext cx="3383228" cy="1237533"/>
          </a:xfrm>
          <a:prstGeom prst="roundRect">
            <a:avLst/>
          </a:prstGeom>
          <a:solidFill>
            <a:srgbClr val="F5F9F1"/>
          </a:solidFill>
          <a:ln w="10160">
            <a:solidFill>
              <a:srgbClr val="F5F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7" name="Picture 146" descr="quality_lea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73278" y="5290457"/>
            <a:ext cx="691086" cy="690956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8819086" y="5259518"/>
            <a:ext cx="206294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Microsoft YaHei"/>
              </a:rPr>
              <a:t>防泄漏划分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819086" y="5548276"/>
            <a:ext cx="2166091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116C70"/>
                </a:solidFill>
                <a:latin typeface="Arial"/>
              </a:rPr>
              <a:t>leakage-aware split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819086" y="5847347"/>
            <a:ext cx="2227979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116C70"/>
                </a:solidFill>
                <a:latin typeface="Microsoft YaHei"/>
              </a:rPr>
              <a:t>基于物种/属的家族感知划分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819086" y="6063915"/>
            <a:ext cx="2289867" cy="371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4A6F71"/>
                </a:solidFill>
                <a:latin typeface="Arial"/>
              </a:rPr>
              <a:t>Family-aware split by species/genus
to prevent information leakage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449339" y="6527990"/>
            <a:ext cx="46416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40" b="0">
                <a:solidFill>
                  <a:srgbClr val="055459"/>
                </a:solidFill>
                <a:latin typeface="Arial"/>
              </a:rPr>
              <a:t>5 / 12</a:t>
            </a:r>
          </a:p>
        </p:txBody>
      </p:sp>
    </p:spTree>
    <p:extLst>
      <p:ext uri="{BB962C8B-B14F-4D97-AF65-F5344CB8AC3E}">
        <p14:creationId xmlns:p14="http://schemas.microsoft.com/office/powerpoint/2010/main" val="245098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31750"/>
          </a:xfrm>
          <a:prstGeom prst="rect">
            <a:avLst/>
          </a:prstGeom>
          <a:solidFill>
            <a:srgbClr val="CB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op_right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791" y="103127"/>
            <a:ext cx="3579208" cy="1856300"/>
          </a:xfrm>
          <a:prstGeom prst="rect">
            <a:avLst/>
          </a:prstGeom>
        </p:spPr>
      </p:pic>
      <p:pic>
        <p:nvPicPr>
          <p:cNvPr id="4" name="Picture 3" descr="bottom_left_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3218"/>
            <a:ext cx="2269238" cy="3454781"/>
          </a:xfrm>
          <a:prstGeom prst="rect">
            <a:avLst/>
          </a:prstGeom>
        </p:spPr>
      </p:pic>
      <p:pic>
        <p:nvPicPr>
          <p:cNvPr id="5" name="Picture 4" descr="bottom_mid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355" y="6187669"/>
            <a:ext cx="7942334" cy="670330"/>
          </a:xfrm>
          <a:prstGeom prst="rect">
            <a:avLst/>
          </a:prstGeom>
        </p:spPr>
      </p:pic>
      <p:pic>
        <p:nvPicPr>
          <p:cNvPr id="6" name="Picture 5" descr="bottom_right_dec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690" y="4692315"/>
            <a:ext cx="2599309" cy="2165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644" y="319696"/>
            <a:ext cx="8148629" cy="495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55459"/>
                </a:solidFill>
                <a:latin typeface="Microsoft YaHei"/>
              </a:rPr>
              <a:t>生成与评估流程  /  Generation &amp; Evaluation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274" y="928150"/>
            <a:ext cx="722030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0" b="1">
                <a:solidFill>
                  <a:srgbClr val="0D6C72"/>
                </a:solidFill>
                <a:latin typeface="Microsoft YaHei"/>
              </a:rPr>
              <a:t>从高质量的真实序列出发，生成新序列并进行多维度评估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274" y="1216908"/>
            <a:ext cx="7529746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0D6C72"/>
                </a:solidFill>
                <a:latin typeface="Arial"/>
              </a:rPr>
              <a:t>From curated real sequences to novel generation and comprehensive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700" y="1557230"/>
            <a:ext cx="2166091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5106" y="1650045"/>
            <a:ext cx="495106" cy="495013"/>
          </a:xfrm>
          <a:prstGeom prst="ellipse">
            <a:avLst/>
          </a:prstGeom>
          <a:solidFill>
            <a:srgbClr val="1B845F"/>
          </a:solidFill>
          <a:ln>
            <a:solidFill>
              <a:srgbClr val="1B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106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3360" y="1691296"/>
            <a:ext cx="1320284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数据准备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3360" y="1969741"/>
            <a:ext cx="1320284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Curated Sequences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8050" y="1557230"/>
            <a:ext cx="2207350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02456" y="1650045"/>
            <a:ext cx="495106" cy="495013"/>
          </a:xfrm>
          <a:prstGeom prst="ellipse">
            <a:avLst/>
          </a:prstGeom>
          <a:solidFill>
            <a:srgbClr val="4F8545"/>
          </a:solidFill>
          <a:ln>
            <a:solidFill>
              <a:srgbClr val="4F8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02456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710" y="1691296"/>
            <a:ext cx="136154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序列表示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710" y="1969741"/>
            <a:ext cx="1361543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Tokenization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7289" y="1557230"/>
            <a:ext cx="2207350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71695" y="1650045"/>
            <a:ext cx="495106" cy="495013"/>
          </a:xfrm>
          <a:prstGeom prst="ellipse">
            <a:avLst/>
          </a:prstGeom>
          <a:solidFill>
            <a:srgbClr val="F56548"/>
          </a:solidFill>
          <a:ln>
            <a:solidFill>
              <a:srgbClr val="F56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71695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9949" y="1691296"/>
            <a:ext cx="136154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生成模型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9949" y="1969741"/>
            <a:ext cx="1361543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Generative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65583" y="1557230"/>
            <a:ext cx="2114517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09989" y="1650045"/>
            <a:ext cx="495106" cy="495013"/>
          </a:xfrm>
          <a:prstGeom prst="ellipse">
            <a:avLst/>
          </a:prstGeom>
          <a:solidFill>
            <a:srgbClr val="1B845F"/>
          </a:solidFill>
          <a:ln>
            <a:solidFill>
              <a:srgbClr val="1B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9989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8243" y="1691296"/>
            <a:ext cx="1268710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生成序列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243" y="1969741"/>
            <a:ext cx="1268710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Generated FASTA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3248" y="1557230"/>
            <a:ext cx="2558050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27654" y="1650045"/>
            <a:ext cx="495106" cy="495013"/>
          </a:xfrm>
          <a:prstGeom prst="ellipse">
            <a:avLst/>
          </a:prstGeom>
          <a:solidFill>
            <a:srgbClr val="1B845F"/>
          </a:solidFill>
          <a:ln>
            <a:solidFill>
              <a:srgbClr val="1B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27654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5908" y="1691296"/>
            <a:ext cx="171224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统一评估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5908" y="1969741"/>
            <a:ext cx="1712243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Unified Evaluator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34274" y="3403218"/>
            <a:ext cx="113461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2516791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4693197" y="3403218"/>
            <a:ext cx="113462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4775715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6900548" y="3403218"/>
            <a:ext cx="113461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6983065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9138842" y="3403218"/>
            <a:ext cx="113462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221360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5421" y="2248186"/>
            <a:ext cx="1825705" cy="2939142"/>
          </a:xfrm>
          <a:prstGeom prst="roundRect">
            <a:avLst/>
          </a:prstGeom>
          <a:solidFill>
            <a:srgbClr val="FCF9EE"/>
          </a:solidFill>
          <a:ln>
            <a:solidFill>
              <a:srgbClr val="FCF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db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39" y="2402878"/>
            <a:ext cx="618883" cy="6909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48081" y="2454442"/>
            <a:ext cx="783918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50" b="1">
                <a:solidFill>
                  <a:srgbClr val="055459"/>
                </a:solidFill>
                <a:latin typeface="Arial"/>
              </a:rPr>
              <a:t>165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5878" y="2836015"/>
            <a:ext cx="97989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40" b="1">
                <a:solidFill>
                  <a:srgbClr val="0D6C72"/>
                </a:solidFill>
                <a:latin typeface="Microsoft YaHei"/>
              </a:rPr>
              <a:t>高质量真实序列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6192" y="3083521"/>
            <a:ext cx="979898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0">
                <a:solidFill>
                  <a:srgbClr val="4D7274"/>
                </a:solidFill>
                <a:latin typeface="Arial"/>
              </a:rPr>
              <a:t>high-quality
real sequences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42" y="3609473"/>
            <a:ext cx="1475005" cy="121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D7274"/>
                </a:solidFill>
                <a:latin typeface="Consolas"/>
              </a:rPr>
              <a:t>&gt;Nostoc_sp._GvpA
MTAQDTVKQATLA...
NTSVDTVKQAVDI...
MGAGDTVKQAVDA...
. . 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23086" y="2248186"/>
            <a:ext cx="1856649" cy="2939142"/>
          </a:xfrm>
          <a:prstGeom prst="roundRect">
            <a:avLst/>
          </a:prstGeom>
          <a:solidFill>
            <a:srgbClr val="F7FAF4"/>
          </a:solidFill>
          <a:ln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file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746" y="2444129"/>
            <a:ext cx="629197" cy="629079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2980954" y="3093834"/>
            <a:ext cx="1423431" cy="340321"/>
          </a:xfrm>
          <a:prstGeom prst="roundRect">
            <a:avLst/>
          </a:prstGeom>
          <a:solidFill>
            <a:srgbClr val="FDFCF7"/>
          </a:solidFill>
          <a:ln w="10160">
            <a:solidFill>
              <a:srgbClr val="418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53157" y="3166024"/>
            <a:ext cx="1279025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1">
                <a:solidFill>
                  <a:srgbClr val="055459"/>
                </a:solidFill>
                <a:latin typeface="Arial"/>
              </a:rPr>
              <a:t>M    T    A    Q    ···</a:t>
            </a:r>
          </a:p>
        </p:txBody>
      </p:sp>
      <p:sp>
        <p:nvSpPr>
          <p:cNvPr id="53" name="Oval 52"/>
          <p:cNvSpPr/>
          <p:nvPr/>
        </p:nvSpPr>
        <p:spPr>
          <a:xfrm>
            <a:off x="2815918" y="3681663"/>
            <a:ext cx="247553" cy="247506"/>
          </a:xfrm>
          <a:prstGeom prst="ellipse">
            <a:avLst/>
          </a:prstGeom>
          <a:solidFill>
            <a:srgbClr val="DFF3E2"/>
          </a:solidFill>
          <a:ln>
            <a:solidFill>
              <a:srgbClr val="D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15918" y="3661037"/>
            <a:ext cx="247553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B845F"/>
                </a:solidFill>
                <a:latin typeface="Arial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6619" y="3661037"/>
            <a:ext cx="134091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D6C72"/>
                </a:solidFill>
                <a:latin typeface="Microsoft YaHei"/>
              </a:rPr>
              <a:t>氨基酸级别编码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6619" y="3867293"/>
            <a:ext cx="139248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AA-level tokenization</a:t>
            </a:r>
          </a:p>
        </p:txBody>
      </p:sp>
      <p:sp>
        <p:nvSpPr>
          <p:cNvPr id="57" name="Oval 56"/>
          <p:cNvSpPr/>
          <p:nvPr/>
        </p:nvSpPr>
        <p:spPr>
          <a:xfrm>
            <a:off x="2815918" y="4176676"/>
            <a:ext cx="247553" cy="247506"/>
          </a:xfrm>
          <a:prstGeom prst="ellipse">
            <a:avLst/>
          </a:prstGeom>
          <a:solidFill>
            <a:srgbClr val="DFF3E2"/>
          </a:solidFill>
          <a:ln>
            <a:solidFill>
              <a:srgbClr val="D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15918" y="4156051"/>
            <a:ext cx="247553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B845F"/>
                </a:solidFill>
                <a:latin typeface="Arial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66619" y="4156051"/>
            <a:ext cx="134091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D6C72"/>
                </a:solidFill>
                <a:latin typeface="Microsoft YaHei"/>
              </a:rPr>
              <a:t>k-mer 特征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66619" y="4362306"/>
            <a:ext cx="139248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k-mer representations</a:t>
            </a:r>
          </a:p>
        </p:txBody>
      </p:sp>
      <p:sp>
        <p:nvSpPr>
          <p:cNvPr id="61" name="Oval 60"/>
          <p:cNvSpPr/>
          <p:nvPr/>
        </p:nvSpPr>
        <p:spPr>
          <a:xfrm>
            <a:off x="2815918" y="4671690"/>
            <a:ext cx="247553" cy="247506"/>
          </a:xfrm>
          <a:prstGeom prst="ellipse">
            <a:avLst/>
          </a:prstGeom>
          <a:solidFill>
            <a:srgbClr val="DFF3E2"/>
          </a:solidFill>
          <a:ln>
            <a:solidFill>
              <a:srgbClr val="D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15918" y="4651064"/>
            <a:ext cx="247553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B845F"/>
                </a:solidFill>
                <a:latin typeface="Arial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66619" y="4651064"/>
            <a:ext cx="134091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D6C72"/>
                </a:solidFill>
                <a:latin typeface="Microsoft YaHei"/>
              </a:rPr>
              <a:t>序列长度处理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66619" y="4857320"/>
            <a:ext cx="139248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Sequence padding
&amp; truncation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71695" y="2258499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aa_freq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3898" y="2310063"/>
            <a:ext cx="618883" cy="53626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786558" y="2402878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AA-frequency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86558" y="2619446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基于氨基酸频率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71695" y="3021645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kmer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3898" y="3073209"/>
            <a:ext cx="618883" cy="53626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786558" y="3166024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k-mer model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86558" y="3382592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基于 k-mer 特征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71695" y="3784790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4" name="Picture 73" descr="lstm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3898" y="3836354"/>
            <a:ext cx="618883" cy="53626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786558" y="3929169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LSTM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86558" y="4145738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循环神经网络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1695" y="4547936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vae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3898" y="4599500"/>
            <a:ext cx="618883" cy="53626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786558" y="4692315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VAE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86558" y="4908884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变分自编码器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20304" y="2248186"/>
            <a:ext cx="1825705" cy="2939142"/>
          </a:xfrm>
          <a:prstGeom prst="roundRect">
            <a:avLst/>
          </a:prstGeom>
          <a:solidFill>
            <a:srgbClr val="F7FAF4"/>
          </a:solidFill>
          <a:ln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fasta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6040" y="2382252"/>
            <a:ext cx="773604" cy="90752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467857" y="3403218"/>
            <a:ext cx="1361543" cy="148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D7274"/>
                </a:solidFill>
                <a:latin typeface="Consolas"/>
              </a:rPr>
              <a:t>&gt;generated_001
MTAQDTVKQATL...
&gt;generated_002
NTSVDTVRQAVDI...
&gt;generated_003
MGAGDTVKQVDA...
. . 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407025" y="2237873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84" descr="eval_validit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8284" y="2237873"/>
            <a:ext cx="495106" cy="495013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046537" y="2310063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有效性 / 生物学约束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46537" y="2516318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Validity (biological constraints)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407025" y="2866953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eval_novelt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48284" y="2866953"/>
            <a:ext cx="495106" cy="495013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0046537" y="2939142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新颖性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46537" y="3145398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Novelty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407025" y="3475407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eval_diversit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48284" y="3475407"/>
            <a:ext cx="495106" cy="495013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046537" y="3547596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多样性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46537" y="3753852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Diversity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407025" y="4094174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eval_length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8284" y="4094174"/>
            <a:ext cx="495106" cy="495013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0046537" y="4166363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长度分布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46537" y="4372619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Length distribution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407025" y="4692315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1" name="Picture 100" descr="eval_emb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8284" y="4692315"/>
            <a:ext cx="495106" cy="495013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046537" y="4764505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嵌入分布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46537" y="4970760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Distribution (embedding space)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56122" y="5527650"/>
            <a:ext cx="10397238" cy="721894"/>
          </a:xfrm>
          <a:prstGeom prst="roundRect">
            <a:avLst/>
          </a:prstGeom>
          <a:solidFill>
            <a:srgbClr val="FFF2EA"/>
          </a:solidFill>
          <a:ln w="11430">
            <a:solidFill>
              <a:srgbClr val="F7B6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bottom_genera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24832" y="5702968"/>
            <a:ext cx="495106" cy="495013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2754030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Generate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54030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生成新序列</a:t>
            </a:r>
          </a:p>
        </p:txBody>
      </p:sp>
      <p:pic>
        <p:nvPicPr>
          <p:cNvPr id="108" name="Picture 107" descr="bottom_evalua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32182" y="5702968"/>
            <a:ext cx="495106" cy="495013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961380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Evaluate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61380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多维度评估</a:t>
            </a:r>
          </a:p>
        </p:txBody>
      </p:sp>
      <p:pic>
        <p:nvPicPr>
          <p:cNvPr id="111" name="Picture 110" descr="bottom_compar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9532" y="5702968"/>
            <a:ext cx="495106" cy="495013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168730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Compare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68730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方法对比</a:t>
            </a:r>
          </a:p>
        </p:txBody>
      </p:sp>
      <p:pic>
        <p:nvPicPr>
          <p:cNvPr id="114" name="Picture 113" descr="bottom_improv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36568" y="5702968"/>
            <a:ext cx="495106" cy="495013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365766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Improve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65766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迭代优化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744243" y="5919536"/>
            <a:ext cx="443533" cy="0"/>
          </a:xfrm>
          <a:prstGeom prst="line">
            <a:avLst/>
          </a:prstGeom>
          <a:ln w="21590">
            <a:solidFill>
              <a:srgbClr val="05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5400000">
            <a:off x="4105258" y="5847347"/>
            <a:ext cx="103147" cy="144378"/>
          </a:xfrm>
          <a:prstGeom prst="triangle">
            <a:avLst/>
          </a:prstGeom>
          <a:solidFill>
            <a:srgbClr val="05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/>
          <p:cNvCxnSpPr/>
          <p:nvPr/>
        </p:nvCxnSpPr>
        <p:spPr>
          <a:xfrm>
            <a:off x="5951593" y="5919536"/>
            <a:ext cx="443533" cy="0"/>
          </a:xfrm>
          <a:prstGeom prst="line">
            <a:avLst/>
          </a:prstGeom>
          <a:ln w="21590">
            <a:solidFill>
              <a:srgbClr val="05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6312608" y="5847347"/>
            <a:ext cx="103147" cy="144378"/>
          </a:xfrm>
          <a:prstGeom prst="triangle">
            <a:avLst/>
          </a:prstGeom>
          <a:solidFill>
            <a:srgbClr val="05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1" name="Connector 120"/>
          <p:cNvCxnSpPr/>
          <p:nvPr/>
        </p:nvCxnSpPr>
        <p:spPr>
          <a:xfrm>
            <a:off x="8148629" y="5919536"/>
            <a:ext cx="443533" cy="0"/>
          </a:xfrm>
          <a:prstGeom prst="line">
            <a:avLst/>
          </a:prstGeom>
          <a:ln w="21590">
            <a:solidFill>
              <a:srgbClr val="05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 rot="5400000">
            <a:off x="8509644" y="5847347"/>
            <a:ext cx="103147" cy="144378"/>
          </a:xfrm>
          <a:prstGeom prst="triangle">
            <a:avLst/>
          </a:prstGeom>
          <a:solidFill>
            <a:srgbClr val="05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1449339" y="6486739"/>
            <a:ext cx="49510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30" b="0">
                <a:solidFill>
                  <a:srgbClr val="055459"/>
                </a:solidFill>
                <a:latin typeface="Arial"/>
              </a:rPr>
              <a:t>6 / 12</a:t>
            </a:r>
          </a:p>
        </p:txBody>
      </p:sp>
    </p:spTree>
    <p:extLst>
      <p:ext uri="{BB962C8B-B14F-4D97-AF65-F5344CB8AC3E}">
        <p14:creationId xmlns:p14="http://schemas.microsoft.com/office/powerpoint/2010/main" val="169444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85664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09441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33218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56994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0771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548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8324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2101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5664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9441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3218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6994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0771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4548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8324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2101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5664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09441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3218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6994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0771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4548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8324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52101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85664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09441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33218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56994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0771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4548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8324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52101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284304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397766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511228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624690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738151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851613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965075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2078537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84304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397766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511228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624690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738151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851613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965075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2078537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284304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397766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1511228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624690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738151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851613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965075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2078537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284304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397766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511228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624690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738151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851613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965075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2078537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top_right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746" y="0"/>
            <a:ext cx="4662253" cy="1598481"/>
          </a:xfrm>
          <a:prstGeom prst="rect">
            <a:avLst/>
          </a:prstGeom>
        </p:spPr>
      </p:pic>
      <p:pic>
        <p:nvPicPr>
          <p:cNvPr id="67" name="Picture 66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11082"/>
            <a:ext cx="1908223" cy="15469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98253" y="484700"/>
            <a:ext cx="6704568" cy="464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40" b="1">
                <a:solidFill>
                  <a:srgbClr val="045459"/>
                </a:solidFill>
                <a:latin typeface="Microsoft YaHei"/>
              </a:rPr>
              <a:t>模型方法  /  LSTM 与 VAE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8253" y="1020965"/>
            <a:ext cx="4641624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0" b="1">
                <a:solidFill>
                  <a:srgbClr val="09696F"/>
                </a:solidFill>
                <a:latin typeface="Microsoft YaHei"/>
              </a:rPr>
              <a:t>两种生成模型的结构设计与特点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8253" y="1299410"/>
            <a:ext cx="5982537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9696F"/>
                </a:solidFill>
                <a:latin typeface="Arial"/>
              </a:rPr>
              <a:t>Model architectures and characteristics for sequence generation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5106" y="1588168"/>
            <a:ext cx="5487431" cy="4321055"/>
          </a:xfrm>
          <a:prstGeom prst="roundRect">
            <a:avLst/>
          </a:prstGeom>
          <a:solidFill>
            <a:srgbClr val="FDFCF7"/>
          </a:solidFill>
          <a:ln w="12700">
            <a:solidFill>
              <a:srgbClr val="C6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261035" y="1588168"/>
            <a:ext cx="5477116" cy="4321055"/>
          </a:xfrm>
          <a:prstGeom prst="roundRect">
            <a:avLst/>
          </a:prstGeom>
          <a:solidFill>
            <a:srgbClr val="FDFCF7"/>
          </a:solidFill>
          <a:ln w="12700">
            <a:solidFill>
              <a:srgbClr val="C6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515736" y="1588168"/>
            <a:ext cx="5446172" cy="773458"/>
          </a:xfrm>
          <a:prstGeom prst="roundRect">
            <a:avLst/>
          </a:prstGeom>
          <a:solidFill>
            <a:srgbClr val="EFF9F2"/>
          </a:solidFill>
          <a:ln>
            <a:solidFill>
              <a:srgbClr val="EFF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515736" y="1588168"/>
            <a:ext cx="5446172" cy="773458"/>
          </a:xfrm>
          <a:prstGeom prst="roundRect">
            <a:avLst/>
          </a:prstGeom>
          <a:solidFill>
            <a:srgbClr val="158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lstm_header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89" y="1701609"/>
            <a:ext cx="691086" cy="56720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578152" y="1763485"/>
            <a:ext cx="3610152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Microsoft YaHei"/>
              </a:rPr>
              <a:t>LSTM（自回归模型）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78152" y="2062556"/>
            <a:ext cx="3713299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10" b="1">
                <a:solidFill>
                  <a:srgbClr val="FFFFFF"/>
                </a:solidFill>
                <a:latin typeface="Arial"/>
              </a:rPr>
              <a:t>LSTM Autoregressive Generation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91979" y="1588168"/>
            <a:ext cx="5415228" cy="773458"/>
          </a:xfrm>
          <a:prstGeom prst="roundRect">
            <a:avLst/>
          </a:prstGeom>
          <a:solidFill>
            <a:srgbClr val="FFEFE7"/>
          </a:solidFill>
          <a:ln>
            <a:solidFill>
              <a:srgbClr val="FF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291979" y="1588168"/>
            <a:ext cx="5415228" cy="773458"/>
          </a:xfrm>
          <a:prstGeom prst="roundRect">
            <a:avLst/>
          </a:prstGeom>
          <a:solidFill>
            <a:srgbClr val="F4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vae_header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273" y="1711921"/>
            <a:ext cx="722030" cy="577515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82192" y="1763485"/>
            <a:ext cx="3610152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Microsoft YaHei"/>
              </a:rPr>
              <a:t>VAE（变分自编码器）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82192" y="2062556"/>
            <a:ext cx="361015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10" b="1">
                <a:solidFill>
                  <a:srgbClr val="FFFFFF"/>
                </a:solidFill>
                <a:latin typeface="Arial"/>
              </a:rPr>
              <a:t>Variational Autoencoder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2345" y="2722574"/>
            <a:ext cx="887065" cy="495013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52974" y="2836015"/>
            <a:ext cx="845807" cy="2578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45459"/>
                </a:solidFill>
                <a:latin typeface="Consolas"/>
              </a:rPr>
              <a:t>&lt;BOS&gt;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918538" y="2712261"/>
            <a:ext cx="680771" cy="505326"/>
          </a:xfrm>
          <a:prstGeom prst="roundRect">
            <a:avLst/>
          </a:prstGeom>
          <a:solidFill>
            <a:srgbClr val="E7F5EA"/>
          </a:solidFill>
          <a:ln w="13970">
            <a:solidFill>
              <a:srgbClr val="0B7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918538" y="2825702"/>
            <a:ext cx="680771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hₜ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980426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980426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M</a:t>
            </a: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2186720" y="3227900"/>
            <a:ext cx="72203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2176406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960324" y="2712261"/>
            <a:ext cx="680771" cy="505326"/>
          </a:xfrm>
          <a:prstGeom prst="roundRect">
            <a:avLst/>
          </a:prstGeom>
          <a:solidFill>
            <a:srgbClr val="E7F5EA"/>
          </a:solidFill>
          <a:ln w="13970">
            <a:solidFill>
              <a:srgbClr val="0B7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960324" y="2825702"/>
            <a:ext cx="680771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hₜ₊₁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022213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22213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T</a:t>
            </a:r>
          </a:p>
        </p:txBody>
      </p:sp>
      <p:cxnSp>
        <p:nvCxnSpPr>
          <p:cNvPr id="95" name="Connector 94"/>
          <p:cNvCxnSpPr/>
          <p:nvPr/>
        </p:nvCxnSpPr>
        <p:spPr>
          <a:xfrm flipH="1" flipV="1">
            <a:off x="3228507" y="3227900"/>
            <a:ext cx="72203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5400000">
            <a:off x="3218192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4002111" y="2712261"/>
            <a:ext cx="680771" cy="505326"/>
          </a:xfrm>
          <a:prstGeom prst="roundRect">
            <a:avLst/>
          </a:prstGeom>
          <a:solidFill>
            <a:srgbClr val="E7F5EA"/>
          </a:solidFill>
          <a:ln w="13970">
            <a:solidFill>
              <a:srgbClr val="0B7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002111" y="2825702"/>
            <a:ext cx="680771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hₜ₊₂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63999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063999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A</a:t>
            </a:r>
          </a:p>
        </p:txBody>
      </p:sp>
      <p:cxnSp>
        <p:nvCxnSpPr>
          <p:cNvPr id="101" name="Connector 100"/>
          <p:cNvCxnSpPr/>
          <p:nvPr/>
        </p:nvCxnSpPr>
        <p:spPr>
          <a:xfrm flipH="1" flipV="1">
            <a:off x="4270294" y="3227900"/>
            <a:ext cx="72203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 rot="5400000">
            <a:off x="4259979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4693197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693197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Q</a:t>
            </a:r>
          </a:p>
        </p:txBody>
      </p:sp>
      <p:cxnSp>
        <p:nvCxnSpPr>
          <p:cNvPr id="105" name="Connector 104"/>
          <p:cNvCxnSpPr/>
          <p:nvPr/>
        </p:nvCxnSpPr>
        <p:spPr>
          <a:xfrm flipH="1" flipV="1">
            <a:off x="4280609" y="3227900"/>
            <a:ext cx="691086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 rot="5400000">
            <a:off x="4270294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Connector 106"/>
          <p:cNvCxnSpPr/>
          <p:nvPr/>
        </p:nvCxnSpPr>
        <p:spPr>
          <a:xfrm>
            <a:off x="1619411" y="2970081"/>
            <a:ext cx="216609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5400000">
            <a:off x="1825705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" name="Connector 108"/>
          <p:cNvCxnSpPr/>
          <p:nvPr/>
        </p:nvCxnSpPr>
        <p:spPr>
          <a:xfrm>
            <a:off x="2599309" y="2970081"/>
            <a:ext cx="278498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5400000">
            <a:off x="2867492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" name="Connector 110"/>
          <p:cNvCxnSpPr/>
          <p:nvPr/>
        </p:nvCxnSpPr>
        <p:spPr>
          <a:xfrm>
            <a:off x="3641096" y="2970081"/>
            <a:ext cx="278497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rot="5400000">
            <a:off x="3909279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/>
          <p:cNvCxnSpPr/>
          <p:nvPr/>
        </p:nvCxnSpPr>
        <p:spPr>
          <a:xfrm>
            <a:off x="4682883" y="2970081"/>
            <a:ext cx="257868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/>
          <p:cNvSpPr/>
          <p:nvPr/>
        </p:nvSpPr>
        <p:spPr>
          <a:xfrm rot="5400000">
            <a:off x="4930436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136730" y="2784451"/>
            <a:ext cx="391959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45459"/>
                </a:solidFill>
                <a:latin typeface="Arial"/>
              </a:rPr>
              <a:t>⋯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0456" y="4052923"/>
            <a:ext cx="5126416" cy="1701609"/>
          </a:xfrm>
          <a:prstGeom prst="roundRect">
            <a:avLst/>
          </a:prstGeom>
          <a:solidFill>
            <a:srgbClr val="F2F9F2"/>
          </a:solidFill>
          <a:ln>
            <a:solidFill>
              <a:srgbClr val="F2F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76751" y="4186989"/>
            <a:ext cx="350700" cy="350634"/>
          </a:xfrm>
          <a:prstGeom prst="ellipse">
            <a:avLst/>
          </a:prstGeom>
          <a:solidFill>
            <a:srgbClr val="DCF1E0"/>
          </a:solidFill>
          <a:ln w="10160">
            <a:solidFill>
              <a:srgbClr val="D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76751" y="4166363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5835F"/>
                </a:solidFill>
                <a:latin typeface="Arial"/>
              </a:rP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64690" y="4176676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Autoregressive decoding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64690" y="4434496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Generate one token at a time from left to right</a:t>
            </a:r>
          </a:p>
        </p:txBody>
      </p:sp>
      <p:sp>
        <p:nvSpPr>
          <p:cNvPr id="121" name="Oval 120"/>
          <p:cNvSpPr/>
          <p:nvPr/>
        </p:nvSpPr>
        <p:spPr>
          <a:xfrm>
            <a:off x="876751" y="4712941"/>
            <a:ext cx="350700" cy="350634"/>
          </a:xfrm>
          <a:prstGeom prst="ellipse">
            <a:avLst/>
          </a:prstGeom>
          <a:solidFill>
            <a:srgbClr val="DCF1E0"/>
          </a:solidFill>
          <a:ln w="10160">
            <a:solidFill>
              <a:srgbClr val="D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76751" y="4692315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5835F"/>
                </a:solidFill>
                <a:latin typeface="Arial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64690" y="4702628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Captures local dependencies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64690" y="4960448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Models conditional probability p(xₜ | x₍&lt;ₜ₎)</a:t>
            </a:r>
          </a:p>
        </p:txBody>
      </p:sp>
      <p:sp>
        <p:nvSpPr>
          <p:cNvPr id="125" name="Oval 124"/>
          <p:cNvSpPr/>
          <p:nvPr/>
        </p:nvSpPr>
        <p:spPr>
          <a:xfrm>
            <a:off x="876751" y="5238893"/>
            <a:ext cx="350700" cy="350634"/>
          </a:xfrm>
          <a:prstGeom prst="ellipse">
            <a:avLst/>
          </a:prstGeom>
          <a:solidFill>
            <a:srgbClr val="DCF1E0"/>
          </a:solidFill>
          <a:ln w="10160">
            <a:solidFill>
              <a:srgbClr val="D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76751" y="5218267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5835F"/>
                </a:solidFill>
                <a:latin typeface="Arial"/>
              </a:rP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64690" y="5228580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Simple baseline deep model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64690" y="5486400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Strong and widely-used sequence model</a:t>
            </a:r>
          </a:p>
        </p:txBody>
      </p:sp>
      <p:sp>
        <p:nvSpPr>
          <p:cNvPr id="129" name="Trapezoid 128"/>
          <p:cNvSpPr/>
          <p:nvPr/>
        </p:nvSpPr>
        <p:spPr>
          <a:xfrm rot="16200000">
            <a:off x="6797510" y="2620581"/>
            <a:ext cx="1165346" cy="771188"/>
          </a:xfrm>
          <a:prstGeom prst="trapezoid">
            <a:avLst/>
          </a:prstGeom>
          <a:solidFill>
            <a:srgbClr val="FAF7E6"/>
          </a:solidFill>
          <a:ln w="15240">
            <a:solidFill>
              <a:srgbClr val="0B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787086" y="2774138"/>
            <a:ext cx="1196507" cy="515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045459"/>
                </a:solidFill>
                <a:latin typeface="Arial"/>
              </a:rPr>
              <a:t>Encoder
q(z|x)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684994" y="2866953"/>
            <a:ext cx="608568" cy="464075"/>
          </a:xfrm>
          <a:prstGeom prst="roundRect">
            <a:avLst/>
          </a:prstGeom>
          <a:solidFill>
            <a:srgbClr val="FFEBCA"/>
          </a:solidFill>
          <a:ln>
            <a:solidFill>
              <a:srgbClr val="FFE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684994" y="2970081"/>
            <a:ext cx="60856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z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02476" y="2588508"/>
            <a:ext cx="825177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60" b="1">
                <a:solidFill>
                  <a:srgbClr val="045459"/>
                </a:solidFill>
                <a:latin typeface="Arial"/>
              </a:rPr>
              <a:t>N(0, I)</a:t>
            </a:r>
          </a:p>
        </p:txBody>
      </p:sp>
      <p:sp>
        <p:nvSpPr>
          <p:cNvPr id="134" name="Trapezoid 133"/>
          <p:cNvSpPr/>
          <p:nvPr/>
        </p:nvSpPr>
        <p:spPr>
          <a:xfrm rot="5400000">
            <a:off x="10118850" y="2647975"/>
            <a:ext cx="1165346" cy="716402"/>
          </a:xfrm>
          <a:prstGeom prst="trapezoid">
            <a:avLst/>
          </a:prstGeom>
          <a:solidFill>
            <a:srgbClr val="FAF7E6"/>
          </a:solidFill>
          <a:ln w="15240">
            <a:solidFill>
              <a:srgbClr val="0B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118740" y="2774138"/>
            <a:ext cx="1186192" cy="515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045459"/>
                </a:solidFill>
                <a:latin typeface="Arial"/>
              </a:rPr>
              <a:t>Decoder
p(x|z)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138314" y="3093834"/>
            <a:ext cx="464162" cy="0"/>
          </a:xfrm>
          <a:prstGeom prst="line">
            <a:avLst/>
          </a:prstGeom>
          <a:ln w="2032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Isosceles Triangle 136"/>
          <p:cNvSpPr/>
          <p:nvPr/>
        </p:nvSpPr>
        <p:spPr>
          <a:xfrm rot="5400000">
            <a:off x="8592162" y="3042270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8" name="Connector 137"/>
          <p:cNvCxnSpPr/>
          <p:nvPr/>
        </p:nvCxnSpPr>
        <p:spPr>
          <a:xfrm>
            <a:off x="9303877" y="3093834"/>
            <a:ext cx="587940" cy="0"/>
          </a:xfrm>
          <a:prstGeom prst="line">
            <a:avLst/>
          </a:prstGeom>
          <a:ln w="2032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sosceles Triangle 138"/>
          <p:cNvSpPr/>
          <p:nvPr/>
        </p:nvSpPr>
        <p:spPr>
          <a:xfrm rot="5400000">
            <a:off x="9881502" y="3042270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661173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61173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M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168730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168730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T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715410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715410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262091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262091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Q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396710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396710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M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95370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95370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50038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50038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A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04706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104706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Q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457015" y="4052923"/>
            <a:ext cx="5126416" cy="1701609"/>
          </a:xfrm>
          <a:prstGeom prst="roundRect">
            <a:avLst/>
          </a:prstGeom>
          <a:solidFill>
            <a:srgbClr val="FFEEE7"/>
          </a:solidFill>
          <a:ln>
            <a:solidFill>
              <a:srgbClr val="FFE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6663309" y="4186989"/>
            <a:ext cx="350700" cy="350634"/>
          </a:xfrm>
          <a:prstGeom prst="ellipse">
            <a:avLst/>
          </a:prstGeom>
          <a:solidFill>
            <a:srgbClr val="FFDED2"/>
          </a:solidFill>
          <a:ln w="10160">
            <a:solidFill>
              <a:srgbClr val="FF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663309" y="4166363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4603F"/>
                </a:solidFill>
                <a:latin typeface="Arial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251248" y="4176676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Latent-space modeling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251248" y="4434496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Map sequences to a continuous latent space</a:t>
            </a:r>
          </a:p>
        </p:txBody>
      </p:sp>
      <p:sp>
        <p:nvSpPr>
          <p:cNvPr id="161" name="Oval 160"/>
          <p:cNvSpPr/>
          <p:nvPr/>
        </p:nvSpPr>
        <p:spPr>
          <a:xfrm>
            <a:off x="6663309" y="4712941"/>
            <a:ext cx="350700" cy="350634"/>
          </a:xfrm>
          <a:prstGeom prst="ellipse">
            <a:avLst/>
          </a:prstGeom>
          <a:solidFill>
            <a:srgbClr val="FFDED2"/>
          </a:solidFill>
          <a:ln w="10160">
            <a:solidFill>
              <a:srgbClr val="FF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663309" y="4692315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4603F"/>
                </a:solidFill>
                <a:latin typeface="Arial"/>
              </a:rPr>
              <a:t>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251248" y="4702628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Diversity-friendly generation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51248" y="4960448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Sample in latent space to generate diverse sequences</a:t>
            </a:r>
          </a:p>
        </p:txBody>
      </p:sp>
      <p:sp>
        <p:nvSpPr>
          <p:cNvPr id="165" name="Oval 164"/>
          <p:cNvSpPr/>
          <p:nvPr/>
        </p:nvSpPr>
        <p:spPr>
          <a:xfrm>
            <a:off x="6663309" y="5238893"/>
            <a:ext cx="350700" cy="350634"/>
          </a:xfrm>
          <a:prstGeom prst="ellipse">
            <a:avLst/>
          </a:prstGeom>
          <a:solidFill>
            <a:srgbClr val="FFDED2"/>
          </a:solidFill>
          <a:ln w="10160">
            <a:solidFill>
              <a:srgbClr val="FF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663309" y="5218267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4603F"/>
                </a:solidFill>
                <a:latin typeface="Arial"/>
              </a:rPr>
              <a:t>✓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251248" y="5228580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Continuous representation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51248" y="5486400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Learn compact and smooth sequence representations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825705" y="6053603"/>
            <a:ext cx="8808771" cy="525951"/>
          </a:xfrm>
          <a:prstGeom prst="roundRect">
            <a:avLst/>
          </a:prstGeom>
          <a:solidFill>
            <a:srgbClr val="EEF9FA"/>
          </a:solidFill>
          <a:ln w="11430">
            <a:solidFill>
              <a:srgbClr val="CA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0" name="Picture 169" descr="db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238" y="6084541"/>
            <a:ext cx="567309" cy="453762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3011898" y="6197981"/>
            <a:ext cx="7271877" cy="2578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Shared tokenizer, dataloader, checkpointing and FASTA generation interface.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387451" y="6527990"/>
            <a:ext cx="536365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30" b="0">
                <a:solidFill>
                  <a:srgbClr val="045459"/>
                </a:solidFill>
                <a:latin typeface="Arial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23628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_right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055" y="103127"/>
            <a:ext cx="4094944" cy="1598481"/>
          </a:xfrm>
          <a:prstGeom prst="rect">
            <a:avLst/>
          </a:prstGeom>
        </p:spPr>
      </p:pic>
      <p:pic>
        <p:nvPicPr>
          <p:cNvPr id="3" name="Picture 2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20466"/>
            <a:ext cx="1392487" cy="123753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26923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50700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74477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8253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2030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5807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9583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3360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6923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0700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4477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8253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2030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5807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9583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3360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6923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0700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4477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8253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22030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5807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9583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93360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6923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50700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4477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98253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22030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5807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9583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93360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26923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0700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4477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98253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22030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5807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9583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93360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26923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50700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74477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98253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22030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45807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69583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93360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26923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50700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74477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8253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22030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45807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9583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93360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263674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377136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490598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604060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717522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830984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944446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2057908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263674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377136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490598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604060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717522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830984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944446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2057908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263674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1377136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490598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1604060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717522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1830984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1944446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2057908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1263674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377136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490598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1604060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1717522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830984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1944446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2057908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1263674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1377136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1490598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1604060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1717522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1830984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1944446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2057908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18882" y="484700"/>
            <a:ext cx="8074543" cy="427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80" b="1" dirty="0">
                <a:solidFill>
                  <a:srgbClr val="03555B"/>
                </a:solidFill>
                <a:latin typeface="Microsoft YaHei"/>
              </a:rPr>
              <a:t>GPU </a:t>
            </a:r>
            <a:r>
              <a:rPr sz="2780" b="1" dirty="0" err="1">
                <a:solidFill>
                  <a:srgbClr val="03555B"/>
                </a:solidFill>
                <a:latin typeface="Microsoft YaHei"/>
              </a:rPr>
              <a:t>烟雾测试结果</a:t>
            </a:r>
            <a:r>
              <a:rPr sz="2780" b="1" dirty="0">
                <a:solidFill>
                  <a:srgbClr val="03555B"/>
                </a:solidFill>
                <a:latin typeface="Microsoft YaHei"/>
              </a:rPr>
              <a:t>  /  GPU Smoke-test</a:t>
            </a:r>
            <a:r>
              <a:rPr lang="zh-CN" altLang="en-US" sz="2780" b="1" dirty="0">
                <a:solidFill>
                  <a:srgbClr val="03555B"/>
                </a:solidFill>
                <a:latin typeface="Microsoft YaHei"/>
              </a:rPr>
              <a:t> </a:t>
            </a:r>
            <a:r>
              <a:rPr sz="2780" b="1" dirty="0">
                <a:solidFill>
                  <a:srgbClr val="03555B"/>
                </a:solidFill>
                <a:latin typeface="Microsoft YaHei"/>
              </a:rPr>
              <a:t>Results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8883" y="1020965"/>
            <a:ext cx="6807715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dirty="0" err="1">
                <a:solidFill>
                  <a:srgbClr val="0B6C73"/>
                </a:solidFill>
                <a:latin typeface="Microsoft YaHei"/>
              </a:rPr>
              <a:t>在小规模数据集上验证训练与生成流程的可行性</a:t>
            </a:r>
            <a:endParaRPr sz="1550" b="1" dirty="0">
              <a:solidFill>
                <a:srgbClr val="0B6C73"/>
              </a:solidFill>
              <a:latin typeface="Microsoft YaHei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18883" y="1330348"/>
            <a:ext cx="6807715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0">
                <a:solidFill>
                  <a:srgbClr val="0B6C73"/>
                </a:solidFill>
                <a:latin typeface="Arial"/>
              </a:rPr>
              <a:t>Verify the training and generation pipeline on a small subset of data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67309" y="1711921"/>
            <a:ext cx="3548263" cy="2547257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con_novel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42" y="1794424"/>
            <a:ext cx="598253" cy="598141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340913" y="1876926"/>
            <a:ext cx="261993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3555B"/>
                </a:solidFill>
                <a:latin typeface="Microsoft YaHei"/>
              </a:rPr>
              <a:t>新颖性 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40913" y="2165684"/>
            <a:ext cx="261993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3555B"/>
                </a:solidFill>
                <a:latin typeface="Arial"/>
              </a:rPr>
              <a:t>Novelty ↑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65563" y="3939482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742659" y="385698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0.0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65563" y="3675475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42659" y="359297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0.2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5563" y="3411468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42659" y="332896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0.4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65563" y="3147461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742659" y="3064958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0.6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165563" y="2883453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742659" y="2800951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0.8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165563" y="2619446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742659" y="253694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1.0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165563" y="2619446"/>
            <a:ext cx="0" cy="1320036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65563" y="3939482"/>
            <a:ext cx="2743716" cy="0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593418" y="2764650"/>
            <a:ext cx="680771" cy="1174832"/>
          </a:xfrm>
          <a:prstGeom prst="rect">
            <a:avLst/>
          </a:prstGeom>
          <a:solidFill>
            <a:srgbClr val="0A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552159" y="2465579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03555B"/>
                </a:solidFill>
                <a:latin typeface="Arial"/>
              </a:rPr>
              <a:t>0.89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31529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828090" y="2738249"/>
            <a:ext cx="680771" cy="1201232"/>
          </a:xfrm>
          <a:prstGeom prst="rect">
            <a:avLst/>
          </a:prstGeom>
          <a:solidFill>
            <a:srgbClr val="FA6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786831" y="2439179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EB0051"/>
                </a:solidFill>
                <a:latin typeface="Arial"/>
              </a:rPr>
              <a:t>0.91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66201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229035" y="1711921"/>
            <a:ext cx="3527634" cy="2547257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8" name="Picture 127" descr="icon_uniq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867" y="1794424"/>
            <a:ext cx="598253" cy="598141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002639" y="1876926"/>
            <a:ext cx="259930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3555B"/>
                </a:solidFill>
                <a:latin typeface="Microsoft YaHei"/>
              </a:rPr>
              <a:t>唯一性比例 ↑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02639" y="2165684"/>
            <a:ext cx="259930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3555B"/>
                </a:solidFill>
                <a:latin typeface="Arial"/>
              </a:rPr>
              <a:t>Unique ratio ↑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4827289" y="3939482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404385" y="385698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0.0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4827289" y="3675475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4404385" y="359297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0.2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827289" y="3411468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404385" y="332896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0.4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4827289" y="3147461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4404385" y="3064958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0.6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4827289" y="2883453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404385" y="2800951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0.8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4827289" y="2619446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404385" y="253694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1.0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827289" y="2619446"/>
            <a:ext cx="0" cy="1320036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827289" y="3939482"/>
            <a:ext cx="2723086" cy="0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5249367" y="2711849"/>
            <a:ext cx="680771" cy="1227633"/>
          </a:xfrm>
          <a:prstGeom prst="rect">
            <a:avLst/>
          </a:prstGeom>
          <a:solidFill>
            <a:srgbClr val="0A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208108" y="2412778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03555B"/>
                </a:solidFill>
                <a:latin typeface="Arial"/>
              </a:rPr>
              <a:t>0.93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187479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474756" y="2698648"/>
            <a:ext cx="680771" cy="1240833"/>
          </a:xfrm>
          <a:prstGeom prst="rect">
            <a:avLst/>
          </a:prstGeom>
          <a:solidFill>
            <a:srgbClr val="FA6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433497" y="2399578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EB0051"/>
                </a:solidFill>
                <a:latin typeface="Arial"/>
              </a:rPr>
              <a:t>0.94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12868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870131" y="1711921"/>
            <a:ext cx="3754558" cy="2547257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2" name="Picture 151" descr="icon_leng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64" y="1794424"/>
            <a:ext cx="598253" cy="598141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8643735" y="1876926"/>
            <a:ext cx="282623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3555B"/>
                </a:solidFill>
                <a:latin typeface="Microsoft YaHei"/>
              </a:rPr>
              <a:t>长度通过率 ↑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643735" y="2165684"/>
            <a:ext cx="2826233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3555B"/>
                </a:solidFill>
                <a:latin typeface="Arial"/>
              </a:rPr>
              <a:t>Length pass rate ↑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8468385" y="3939482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8045482" y="385698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0.0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8468385" y="3675475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8045482" y="359297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0.2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8468385" y="3411468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8045482" y="332896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0.4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8468385" y="3147461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8045482" y="3064958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0.6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8468385" y="2883453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8045482" y="2800951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0.8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8468385" y="2619446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8045482" y="253694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1.0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8468385" y="2619446"/>
            <a:ext cx="0" cy="1320036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468385" y="3939482"/>
            <a:ext cx="2950010" cy="0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8954002" y="3715076"/>
            <a:ext cx="680771" cy="224406"/>
          </a:xfrm>
          <a:prstGeom prst="rect">
            <a:avLst/>
          </a:prstGeom>
          <a:solidFill>
            <a:srgbClr val="0A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912743" y="3416005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03555B"/>
                </a:solidFill>
                <a:latin typeface="Arial"/>
              </a:rPr>
              <a:t>0.17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892114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281507" y="3701876"/>
            <a:ext cx="680771" cy="237606"/>
          </a:xfrm>
          <a:prstGeom prst="rect">
            <a:avLst/>
          </a:prstGeom>
          <a:solidFill>
            <a:srgbClr val="FA6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240248" y="3402805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EB0051"/>
                </a:solidFill>
                <a:latin typeface="Arial"/>
              </a:rPr>
              <a:t>0.18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219618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56994" y="4424183"/>
            <a:ext cx="4889177" cy="2114120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6" name="Picture 175" descr="icon_l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71" y="4486060"/>
            <a:ext cx="474477" cy="47438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217137" y="4578875"/>
            <a:ext cx="3971167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03555B"/>
                </a:solidFill>
                <a:latin typeface="Microsoft YaHei"/>
              </a:rPr>
              <a:t>训练损失曲线（示例）/ Training Loss Curve (Example)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1217137" y="5022324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773604" y="4939822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10⁰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1217137" y="5359243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773604" y="5276741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10⁻¹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1217137" y="5696161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773604" y="5613659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10⁻²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1217137" y="6043290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773604" y="5960787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10⁻³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1217137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1021157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0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805076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609096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500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2393015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2197035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1,000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2980954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2784974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1,500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3568893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3372913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2,000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1217137" y="5022324"/>
            <a:ext cx="0" cy="1020966"/>
          </a:xfrm>
          <a:prstGeom prst="line">
            <a:avLst/>
          </a:prstGeom>
          <a:ln w="1397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217137" y="6043290"/>
            <a:ext cx="2939695" cy="0"/>
          </a:xfrm>
          <a:prstGeom prst="line">
            <a:avLst/>
          </a:prstGeom>
          <a:ln w="1397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2166091" y="6259858"/>
            <a:ext cx="103147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0">
                <a:solidFill>
                  <a:srgbClr val="03555B"/>
                </a:solidFill>
                <a:latin typeface="Arial"/>
              </a:rPr>
              <a:t>Training steps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1217137" y="5042744"/>
            <a:ext cx="122487" cy="122515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339624" y="5165259"/>
            <a:ext cx="122487" cy="8167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462111" y="5246937"/>
            <a:ext cx="122487" cy="91887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584598" y="5338824"/>
            <a:ext cx="122488" cy="91886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707086" y="5430710"/>
            <a:ext cx="122487" cy="7146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829573" y="5502178"/>
            <a:ext cx="122487" cy="6125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952060" y="5563436"/>
            <a:ext cx="122488" cy="5104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2074548" y="5614484"/>
            <a:ext cx="122487" cy="3062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2197035" y="5645113"/>
            <a:ext cx="122487" cy="3062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2319522" y="5675742"/>
            <a:ext cx="122488" cy="2041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2442010" y="5696161"/>
            <a:ext cx="122487" cy="2042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2564497" y="5716581"/>
            <a:ext cx="122487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2686984" y="5726790"/>
            <a:ext cx="122488" cy="2042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2809472" y="5747210"/>
            <a:ext cx="122487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2931959" y="5757419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054446" y="5767629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176933" y="5777839"/>
            <a:ext cx="122488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299421" y="5788048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421908" y="5798258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544395" y="5808468"/>
            <a:ext cx="122488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666883" y="5818677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789370" y="5828887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911857" y="5839097"/>
            <a:ext cx="122488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4034345" y="5849306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217137" y="5032534"/>
            <a:ext cx="122487" cy="91887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339624" y="5124421"/>
            <a:ext cx="122487" cy="71467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462111" y="5195888"/>
            <a:ext cx="122487" cy="7146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584598" y="5267356"/>
            <a:ext cx="122488" cy="7146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707086" y="5338824"/>
            <a:ext cx="122487" cy="5104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29573" y="5389872"/>
            <a:ext cx="122487" cy="5104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952060" y="5440920"/>
            <a:ext cx="122488" cy="4083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2074548" y="5481759"/>
            <a:ext cx="122487" cy="3062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197035" y="5512388"/>
            <a:ext cx="122487" cy="3062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2319522" y="5543017"/>
            <a:ext cx="122488" cy="2041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2442010" y="5563436"/>
            <a:ext cx="122487" cy="2041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2564497" y="5583855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2686984" y="5594065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2809472" y="5604275"/>
            <a:ext cx="122487" cy="2041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2931959" y="5624694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3054446" y="5634904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3176933" y="5645113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3299421" y="5655323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3421908" y="5665533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3544395" y="5675742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3666883" y="5685952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3789370" y="5696161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911857" y="5706371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4034345" y="5716581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4352812" y="5104827"/>
            <a:ext cx="288812" cy="0"/>
          </a:xfrm>
          <a:prstGeom prst="line">
            <a:avLst/>
          </a:prstGeom>
          <a:ln w="2286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4724142" y="5012012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4352812" y="5311082"/>
            <a:ext cx="288812" cy="0"/>
          </a:xfrm>
          <a:prstGeom prst="line">
            <a:avLst/>
          </a:prstGeom>
          <a:ln w="2286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4724142" y="5218267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5539004" y="4424183"/>
            <a:ext cx="3218192" cy="2114120"/>
          </a:xfrm>
          <a:prstGeom prst="roundRect">
            <a:avLst/>
          </a:prstGeom>
          <a:solidFill>
            <a:srgbClr val="EFF7EB"/>
          </a:solidFill>
          <a:ln>
            <a:solidFill>
              <a:srgbClr val="EFF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2" name="Picture 251" descr="icon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2466" y="4516998"/>
            <a:ext cx="505421" cy="505326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6271350" y="4867633"/>
            <a:ext cx="2320812" cy="577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3555B"/>
                </a:solidFill>
                <a:latin typeface="Microsoft YaHei"/>
              </a:rPr>
              <a:t>GPU 训练 / 生成流程已验证；
当前结果为烟雾测试，尚非最终实验结果。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745299" y="5599840"/>
            <a:ext cx="2784974" cy="629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0B6C73"/>
                </a:solidFill>
                <a:latin typeface="Arial"/>
              </a:rPr>
              <a:t>GPU training / generation pipeline verified;
current results are smoke tests rather than
final experiments.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8850030" y="4424183"/>
            <a:ext cx="2784974" cy="2114120"/>
          </a:xfrm>
          <a:prstGeom prst="roundRect">
            <a:avLst/>
          </a:prstGeom>
          <a:solidFill>
            <a:srgbClr val="FFF3F1"/>
          </a:solidFill>
          <a:ln w="11430">
            <a:solidFill>
              <a:srgbClr val="F8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6" name="Picture 255" descr="icon_set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2548" y="4496372"/>
            <a:ext cx="464162" cy="464075"/>
          </a:xfrm>
          <a:prstGeom prst="rect">
            <a:avLst/>
          </a:prstGeom>
        </p:spPr>
      </p:pic>
      <p:sp>
        <p:nvSpPr>
          <p:cNvPr id="257" name="TextBox 256"/>
          <p:cNvSpPr txBox="1"/>
          <p:nvPr/>
        </p:nvSpPr>
        <p:spPr>
          <a:xfrm>
            <a:off x="9510172" y="4599500"/>
            <a:ext cx="1701928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>
                <a:solidFill>
                  <a:srgbClr val="EB0051"/>
                </a:solidFill>
                <a:latin typeface="Microsoft YaHei"/>
              </a:rPr>
              <a:t>实验设置 / Setup</a:t>
            </a:r>
          </a:p>
        </p:txBody>
      </p:sp>
      <p:sp>
        <p:nvSpPr>
          <p:cNvPr id="258" name="Oval 257"/>
          <p:cNvSpPr/>
          <p:nvPr/>
        </p:nvSpPr>
        <p:spPr>
          <a:xfrm>
            <a:off x="9015065" y="5125452"/>
            <a:ext cx="72203" cy="72189"/>
          </a:xfrm>
          <a:prstGeom prst="ellipse">
            <a:avLst/>
          </a:prstGeom>
          <a:solidFill>
            <a:srgbClr val="03555B"/>
          </a:solidFill>
          <a:ln>
            <a:solidFill>
              <a:srgbClr val="035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9262619" y="5084201"/>
            <a:ext cx="2197035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03555B"/>
                </a:solidFill>
                <a:latin typeface="Microsoft YaHei"/>
              </a:rPr>
              <a:t>小规模数据集 (~5K 序列)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262619" y="5321395"/>
            <a:ext cx="2197035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B6C73"/>
                </a:solidFill>
                <a:latin typeface="Arial"/>
              </a:rPr>
              <a:t>Small subset (~5K sequences)</a:t>
            </a:r>
          </a:p>
        </p:txBody>
      </p:sp>
      <p:sp>
        <p:nvSpPr>
          <p:cNvPr id="261" name="Oval 260"/>
          <p:cNvSpPr/>
          <p:nvPr/>
        </p:nvSpPr>
        <p:spPr>
          <a:xfrm>
            <a:off x="9015065" y="5630778"/>
            <a:ext cx="72203" cy="72189"/>
          </a:xfrm>
          <a:prstGeom prst="ellipse">
            <a:avLst/>
          </a:prstGeom>
          <a:solidFill>
            <a:srgbClr val="03555B"/>
          </a:solidFill>
          <a:ln>
            <a:solidFill>
              <a:srgbClr val="035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262619" y="5589527"/>
            <a:ext cx="2197035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03555B"/>
                </a:solidFill>
                <a:latin typeface="Microsoft YaHei"/>
              </a:rPr>
              <a:t>相同的预处理与评估指标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262619" y="5826721"/>
            <a:ext cx="2197035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B6C73"/>
                </a:solidFill>
                <a:latin typeface="Arial"/>
              </a:rPr>
              <a:t>Same preprocessing &amp; evaluation metrics</a:t>
            </a:r>
          </a:p>
        </p:txBody>
      </p:sp>
      <p:sp>
        <p:nvSpPr>
          <p:cNvPr id="264" name="Oval 263"/>
          <p:cNvSpPr/>
          <p:nvPr/>
        </p:nvSpPr>
        <p:spPr>
          <a:xfrm>
            <a:off x="9015065" y="6136105"/>
            <a:ext cx="72203" cy="72189"/>
          </a:xfrm>
          <a:prstGeom prst="ellipse">
            <a:avLst/>
          </a:prstGeom>
          <a:solidFill>
            <a:srgbClr val="03555B"/>
          </a:solidFill>
          <a:ln>
            <a:solidFill>
              <a:srgbClr val="035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9262619" y="6094854"/>
            <a:ext cx="2197035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03555B"/>
                </a:solidFill>
                <a:latin typeface="Microsoft YaHei"/>
              </a:rPr>
              <a:t>主要用于验证流程可行性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262619" y="6332048"/>
            <a:ext cx="2197035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B6C73"/>
                </a:solidFill>
                <a:latin typeface="Arial"/>
              </a:rPr>
              <a:t>Focused on pipeline verification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1366822" y="6569242"/>
            <a:ext cx="51573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0">
                <a:solidFill>
                  <a:srgbClr val="03555B"/>
                </a:solidFill>
                <a:latin typeface="Arial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44352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_right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2" y="0"/>
            <a:ext cx="4538477" cy="1804736"/>
          </a:xfrm>
          <a:prstGeom prst="rect">
            <a:avLst/>
          </a:prstGeom>
        </p:spPr>
      </p:pic>
      <p:pic>
        <p:nvPicPr>
          <p:cNvPr id="3" name="Picture 2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62646"/>
            <a:ext cx="1186192" cy="1495353"/>
          </a:xfrm>
          <a:prstGeom prst="rect">
            <a:avLst/>
          </a:prstGeom>
        </p:spPr>
      </p:pic>
      <p:pic>
        <p:nvPicPr>
          <p:cNvPr id="4" name="Picture 3" descr="bottom_right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131" y="5775157"/>
            <a:ext cx="2289867" cy="108284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5664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09441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3218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56994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771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548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28324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2101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5664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441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3218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56994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80771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548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8324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2101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85664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09441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3218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6994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0771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4548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8324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2101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85664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9441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33218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56994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80771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4548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28324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2101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85664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09441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33218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56994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80771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04548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8324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52101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85664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09441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33218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56994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80771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04548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28324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52101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85664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09441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33218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56994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80771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04548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28324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52101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139898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253360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366822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480283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593745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707207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820669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934131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139898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253360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366822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480283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593745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707207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1820669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934131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1139898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253360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1366822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480283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1593745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1707207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1820669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1934131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139898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253360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1366822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1480283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593745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1707207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1820669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1934131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1139898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1253360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1366822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1480283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1593745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1707207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1820669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1934131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1294619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1408080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1521542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1635004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1748466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861928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1975390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1294619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408080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521542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1635004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1748466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1861928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1975390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1294619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1408080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1521542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1635004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1748466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1861928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1975390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1294619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1408080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1521542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1635004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1748466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861928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975390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98253" y="474387"/>
            <a:ext cx="7220304" cy="453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50" b="1">
                <a:solidFill>
                  <a:srgbClr val="035359"/>
                </a:solidFill>
                <a:latin typeface="Microsoft YaHei"/>
              </a:rPr>
              <a:t>瓶颈与误差分析  /  Failure Analysis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98253" y="979714"/>
            <a:ext cx="7117157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6B72"/>
                </a:solidFill>
                <a:latin typeface="Microsoft YaHei"/>
              </a:rPr>
              <a:t>分析生成结果中的常见问题，定位影响生成质量的关键因素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8253" y="1258159"/>
            <a:ext cx="7632893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0E6B72"/>
                </a:solidFill>
                <a:latin typeface="Arial"/>
              </a:rPr>
              <a:t>Analyze common issues in generated sequences and identify key factors affecting generation quality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12588" y="1536604"/>
            <a:ext cx="7375025" cy="1949115"/>
          </a:xfrm>
          <a:prstGeom prst="roundRect">
            <a:avLst/>
          </a:prstGeom>
          <a:solidFill>
            <a:srgbClr val="FDFCF8"/>
          </a:solidFill>
          <a:ln w="12700">
            <a:solidFill>
              <a:srgbClr val="F8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412588" y="3588848"/>
            <a:ext cx="7375025" cy="2258499"/>
          </a:xfrm>
          <a:prstGeom prst="roundRect">
            <a:avLst/>
          </a:prstGeom>
          <a:solidFill>
            <a:srgbClr val="FDFCF8"/>
          </a:solidFill>
          <a:ln w="12700">
            <a:solidFill>
              <a:srgbClr val="F8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7890761" y="1536604"/>
            <a:ext cx="3940223" cy="4661377"/>
          </a:xfrm>
          <a:prstGeom prst="roundRect">
            <a:avLst/>
          </a:prstGeom>
          <a:solidFill>
            <a:srgbClr val="F5FAF4"/>
          </a:solidFill>
          <a:ln w="12700">
            <a:solidFill>
              <a:srgbClr val="DA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577624" y="1629419"/>
            <a:ext cx="495106" cy="495013"/>
          </a:xfrm>
          <a:prstGeom prst="ellipse">
            <a:avLst/>
          </a:prstGeom>
          <a:solidFill>
            <a:srgbClr val="EA1454"/>
          </a:solidFill>
          <a:ln>
            <a:solidFill>
              <a:srgbClr val="EA1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77624" y="1722234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75878" y="1742860"/>
            <a:ext cx="3042842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EA1454"/>
                </a:solidFill>
                <a:latin typeface="Microsoft YaHei"/>
              </a:rPr>
              <a:t>过早结束（Early &lt;EOS&gt;）</a:t>
            </a:r>
          </a:p>
        </p:txBody>
      </p:sp>
      <p:sp>
        <p:nvSpPr>
          <p:cNvPr id="138" name="Oval 137"/>
          <p:cNvSpPr/>
          <p:nvPr/>
        </p:nvSpPr>
        <p:spPr>
          <a:xfrm>
            <a:off x="587939" y="2279124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87939" y="2268812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00527" y="2268812"/>
            <a:ext cx="283654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E6B72"/>
                </a:solidFill>
                <a:latin typeface="Microsoft YaHei"/>
              </a:rPr>
              <a:t>生成序列在开头即输出 &lt;EOS&gt;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0527" y="2495693"/>
            <a:ext cx="2888121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66A6E"/>
                </a:solidFill>
                <a:latin typeface="Arial"/>
              </a:rPr>
              <a:t>Model generates &lt;EOS&gt; too early</a:t>
            </a:r>
          </a:p>
        </p:txBody>
      </p:sp>
      <p:sp>
        <p:nvSpPr>
          <p:cNvPr id="142" name="Oval 141"/>
          <p:cNvSpPr/>
          <p:nvPr/>
        </p:nvSpPr>
        <p:spPr>
          <a:xfrm>
            <a:off x="587939" y="2866953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87939" y="2856640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0527" y="2856640"/>
            <a:ext cx="283654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E6B72"/>
                </a:solidFill>
                <a:latin typeface="Microsoft YaHei"/>
              </a:rPr>
              <a:t>导致空序列或极短序列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0527" y="3083521"/>
            <a:ext cx="2888121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66A6E"/>
                </a:solidFill>
                <a:latin typeface="Arial"/>
              </a:rPr>
              <a:t>Results in empty or very short sequences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177461" y="1897551"/>
            <a:ext cx="3393543" cy="1330348"/>
          </a:xfrm>
          <a:prstGeom prst="roundRect">
            <a:avLst/>
          </a:prstGeom>
          <a:solidFill>
            <a:srgbClr val="FFF3F4"/>
          </a:solidFill>
          <a:ln>
            <a:solidFill>
              <a:srgbClr val="FFF3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4394070" y="1990366"/>
            <a:ext cx="268182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EA1454"/>
                </a:solidFill>
                <a:latin typeface="Microsoft YaHei"/>
              </a:rPr>
              <a:t>示例输出 / Example Outputs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332182" y="2268812"/>
            <a:ext cx="3073786" cy="278445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8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445644" y="2320375"/>
            <a:ext cx="165035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35359"/>
                </a:solidFill>
                <a:latin typeface="Consolas"/>
              </a:rPr>
              <a:t>Input:   M T A Q ...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920649" y="2320375"/>
            <a:ext cx="1361543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A1454"/>
                </a:solidFill>
                <a:latin typeface="Consolas"/>
              </a:rPr>
              <a:t>Output:   &lt;EOS&gt;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332182" y="2598821"/>
            <a:ext cx="3073786" cy="278445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8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445644" y="2650384"/>
            <a:ext cx="165035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35359"/>
                </a:solidFill>
                <a:latin typeface="Consolas"/>
              </a:rPr>
              <a:t>Input:   G V P A ...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920649" y="2650384"/>
            <a:ext cx="1361543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A1454"/>
                </a:solidFill>
                <a:latin typeface="Consolas"/>
              </a:rPr>
              <a:t>Output:   M &lt;EOS&gt;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332182" y="2928830"/>
            <a:ext cx="3073786" cy="278445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8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445644" y="2980393"/>
            <a:ext cx="165035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35359"/>
                </a:solidFill>
                <a:latin typeface="Consolas"/>
              </a:rPr>
              <a:t>Input:   A L K T ...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920649" y="2980393"/>
            <a:ext cx="1361543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A1454"/>
                </a:solidFill>
                <a:latin typeface="Consolas"/>
              </a:rPr>
              <a:t>Output:   &lt;EOS&gt;</a:t>
            </a:r>
          </a:p>
        </p:txBody>
      </p:sp>
      <p:sp>
        <p:nvSpPr>
          <p:cNvPr id="157" name="Oval 156"/>
          <p:cNvSpPr/>
          <p:nvPr/>
        </p:nvSpPr>
        <p:spPr>
          <a:xfrm>
            <a:off x="577624" y="3681663"/>
            <a:ext cx="495106" cy="495013"/>
          </a:xfrm>
          <a:prstGeom prst="ellipse">
            <a:avLst/>
          </a:prstGeom>
          <a:solidFill>
            <a:srgbClr val="EA1454"/>
          </a:solidFill>
          <a:ln>
            <a:solidFill>
              <a:srgbClr val="EA1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77624" y="3774478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75878" y="3784790"/>
            <a:ext cx="3094416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EA1454"/>
                </a:solidFill>
                <a:latin typeface="Microsoft YaHei"/>
              </a:rPr>
              <a:t>偏短序列（Length Bias）</a:t>
            </a:r>
          </a:p>
        </p:txBody>
      </p:sp>
      <p:sp>
        <p:nvSpPr>
          <p:cNvPr id="160" name="Oval 159"/>
          <p:cNvSpPr/>
          <p:nvPr/>
        </p:nvSpPr>
        <p:spPr>
          <a:xfrm>
            <a:off x="587939" y="4279804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87939" y="4269491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00527" y="4269491"/>
            <a:ext cx="283654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E6B72"/>
                </a:solidFill>
                <a:latin typeface="Microsoft YaHei"/>
              </a:rPr>
              <a:t>生成序列普遍短于真实序列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00527" y="4496372"/>
            <a:ext cx="2888121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66A6E"/>
                </a:solidFill>
                <a:latin typeface="Arial"/>
              </a:rPr>
              <a:t>Generated sequences are
consistently shorter than real ones</a:t>
            </a:r>
          </a:p>
        </p:txBody>
      </p:sp>
      <p:sp>
        <p:nvSpPr>
          <p:cNvPr id="164" name="Oval 163"/>
          <p:cNvSpPr/>
          <p:nvPr/>
        </p:nvSpPr>
        <p:spPr>
          <a:xfrm>
            <a:off x="587939" y="5042950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587939" y="5032637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00527" y="5032637"/>
            <a:ext cx="283654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E6B72"/>
                </a:solidFill>
                <a:latin typeface="Microsoft YaHei"/>
              </a:rPr>
              <a:t>缺乏足够的结构和功能片段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0527" y="5259518"/>
            <a:ext cx="2888121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66A6E"/>
                </a:solidFill>
                <a:latin typeface="Arial"/>
              </a:rPr>
              <a:t>Missing important structural
and functional patterns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940223" y="3826042"/>
            <a:ext cx="3403857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35359"/>
                </a:solidFill>
                <a:latin typeface="Microsoft YaHei"/>
              </a:rPr>
              <a:t>序列长度分布 / Sequence Length Distribution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4332182" y="5238893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3929908" y="515639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0.00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4332182" y="4965604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3929908" y="4883102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0.05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4332182" y="4692315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929908" y="460981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0.10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4332182" y="4419027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929908" y="433652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0.15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4332182" y="4145738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3929908" y="406323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0.20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4332182" y="4145738"/>
            <a:ext cx="0" cy="1093155"/>
          </a:xfrm>
          <a:prstGeom prst="line">
            <a:avLst/>
          </a:prstGeom>
          <a:ln w="1270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332182" y="5238893"/>
            <a:ext cx="2970640" cy="0"/>
          </a:xfrm>
          <a:prstGeom prst="line">
            <a:avLst/>
          </a:prstGeom>
          <a:ln w="1270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 rot="16200000">
            <a:off x="3837076" y="4609813"/>
            <a:ext cx="464162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035359"/>
                </a:solidFill>
                <a:latin typeface="Arial"/>
              </a:rPr>
              <a:t>Density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433218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4167147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0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507484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490980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50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581750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565246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100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656016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639512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150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730282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713778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200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074842" y="5445148"/>
            <a:ext cx="1547208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0">
                <a:solidFill>
                  <a:srgbClr val="035359"/>
                </a:solidFill>
                <a:latin typeface="Arial"/>
              </a:rPr>
              <a:t>Sequence length (aa)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69315" y="5218779"/>
            <a:ext cx="34657" cy="2011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4493092" y="5178551"/>
            <a:ext cx="34657" cy="60342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4616868" y="5118208"/>
            <a:ext cx="34657" cy="12068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4740645" y="5017638"/>
            <a:ext cx="34657" cy="22125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4864422" y="4886897"/>
            <a:ext cx="34657" cy="351995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988198" y="4736041"/>
            <a:ext cx="34657" cy="502851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5111975" y="4585186"/>
            <a:ext cx="34657" cy="65370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5235752" y="4414217"/>
            <a:ext cx="34657" cy="82467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5359528" y="4303589"/>
            <a:ext cx="34657" cy="935303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483305" y="4233190"/>
            <a:ext cx="34657" cy="1005702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5607082" y="4273418"/>
            <a:ext cx="34657" cy="96547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5730858" y="4353875"/>
            <a:ext cx="34657" cy="885018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854635" y="4454445"/>
            <a:ext cx="34657" cy="784447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5978412" y="4565072"/>
            <a:ext cx="34657" cy="673820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6102188" y="4685756"/>
            <a:ext cx="34657" cy="55313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6225965" y="4796384"/>
            <a:ext cx="34657" cy="442509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6349741" y="4896954"/>
            <a:ext cx="34657" cy="341938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6473518" y="4987467"/>
            <a:ext cx="34657" cy="251425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6597295" y="5057866"/>
            <a:ext cx="34657" cy="18102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6721071" y="5118208"/>
            <a:ext cx="34657" cy="12068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6844848" y="5158437"/>
            <a:ext cx="34657" cy="8045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6968625" y="5188608"/>
            <a:ext cx="34657" cy="50285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7092401" y="5208722"/>
            <a:ext cx="34657" cy="30171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4585924" y="5191688"/>
            <a:ext cx="34657" cy="47204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4709701" y="5144484"/>
            <a:ext cx="34657" cy="9440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4833478" y="5068957"/>
            <a:ext cx="34657" cy="169935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4957254" y="4955666"/>
            <a:ext cx="34657" cy="283226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5081031" y="4795171"/>
            <a:ext cx="34657" cy="443721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5204807" y="4578031"/>
            <a:ext cx="34657" cy="660861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5328584" y="4389213"/>
            <a:ext cx="34657" cy="849679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5452361" y="4200396"/>
            <a:ext cx="34657" cy="1038497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5576137" y="4294804"/>
            <a:ext cx="34657" cy="94408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5699914" y="4436418"/>
            <a:ext cx="34657" cy="802475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5823691" y="4578031"/>
            <a:ext cx="34657" cy="660861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5947467" y="4719644"/>
            <a:ext cx="34657" cy="51924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6071244" y="4842376"/>
            <a:ext cx="34657" cy="396517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6195021" y="4955666"/>
            <a:ext cx="34657" cy="283226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6318797" y="5031193"/>
            <a:ext cx="34657" cy="207699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442574" y="5097279"/>
            <a:ext cx="34657" cy="141613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566351" y="5144484"/>
            <a:ext cx="34657" cy="9440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6690127" y="5182247"/>
            <a:ext cx="34657" cy="56645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6813904" y="5210570"/>
            <a:ext cx="34657" cy="28322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6937681" y="5229452"/>
            <a:ext cx="34657" cy="9440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6343553" y="4156051"/>
            <a:ext cx="165035" cy="103127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570476" y="4104487"/>
            <a:ext cx="94895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035359"/>
                </a:solidFill>
                <a:latin typeface="Arial"/>
              </a:rPr>
              <a:t>Real (test set)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343553" y="4382932"/>
            <a:ext cx="165035" cy="103127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6570476" y="4331368"/>
            <a:ext cx="107273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035359"/>
                </a:solidFill>
                <a:latin typeface="Arial"/>
              </a:rPr>
              <a:t>Generated (VAE)</a:t>
            </a:r>
          </a:p>
        </p:txBody>
      </p:sp>
      <p:sp>
        <p:nvSpPr>
          <p:cNvPr id="240" name="Oval 239"/>
          <p:cNvSpPr/>
          <p:nvPr/>
        </p:nvSpPr>
        <p:spPr>
          <a:xfrm>
            <a:off x="8066111" y="1660357"/>
            <a:ext cx="474477" cy="474387"/>
          </a:xfrm>
          <a:prstGeom prst="ellipse">
            <a:avLst/>
          </a:prstGeom>
          <a:solidFill>
            <a:srgbClr val="097F69"/>
          </a:solidFill>
          <a:ln>
            <a:solidFill>
              <a:srgbClr val="097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8066111" y="1711921"/>
            <a:ext cx="474477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664365" y="1763485"/>
            <a:ext cx="2784974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0" b="1">
                <a:solidFill>
                  <a:srgbClr val="035359"/>
                </a:solidFill>
                <a:latin typeface="Microsoft YaHei"/>
              </a:rPr>
              <a:t>可能原因 / Possible Causes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8035167" y="2206935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4" name="Picture 243" descr="cause_data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111" y="2299750"/>
            <a:ext cx="515736" cy="515639"/>
          </a:xfrm>
          <a:prstGeom prst="rect">
            <a:avLst/>
          </a:prstGeom>
        </p:spPr>
      </p:pic>
      <p:sp>
        <p:nvSpPr>
          <p:cNvPr id="245" name="TextBox 244"/>
          <p:cNvSpPr txBox="1"/>
          <p:nvPr/>
        </p:nvSpPr>
        <p:spPr>
          <a:xfrm>
            <a:off x="8757197" y="2279124"/>
            <a:ext cx="2578680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35359"/>
                </a:solidFill>
                <a:latin typeface="Microsoft YaHei"/>
              </a:rPr>
              <a:t>训练数据长度分布不均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757197" y="2506006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35359"/>
                </a:solidFill>
                <a:latin typeface="Arial"/>
              </a:rPr>
              <a:t>Training data length skew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757197" y="2722574"/>
            <a:ext cx="2578680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E6B72"/>
                </a:solidFill>
                <a:latin typeface="Microsoft YaHei"/>
              </a:rPr>
              <a:t>训练集中短序列占比过高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757197" y="2897891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466A6E"/>
                </a:solidFill>
                <a:latin typeface="Arial"/>
              </a:rPr>
              <a:t>Short sequences dominate the training set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8035167" y="3186649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0" name="Picture 249" descr="cause_eos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111" y="3279464"/>
            <a:ext cx="515736" cy="515639"/>
          </a:xfrm>
          <a:prstGeom prst="rect">
            <a:avLst/>
          </a:prstGeom>
        </p:spPr>
      </p:pic>
      <p:sp>
        <p:nvSpPr>
          <p:cNvPr id="251" name="TextBox 250"/>
          <p:cNvSpPr txBox="1"/>
          <p:nvPr/>
        </p:nvSpPr>
        <p:spPr>
          <a:xfrm>
            <a:off x="8757197" y="3258839"/>
            <a:ext cx="2578680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35359"/>
                </a:solidFill>
                <a:latin typeface="Microsoft YaHei"/>
              </a:rPr>
              <a:t>&lt;EOS&gt; 预测过于自信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757197" y="3485720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35359"/>
                </a:solidFill>
                <a:latin typeface="Arial"/>
              </a:rPr>
              <a:t>EOS overconfidence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8757197" y="3702288"/>
            <a:ext cx="2578680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E6B72"/>
                </a:solidFill>
                <a:latin typeface="Microsoft YaHei"/>
              </a:rPr>
              <a:t>模型过早预测生成结束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757197" y="3877606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466A6E"/>
                </a:solidFill>
                <a:latin typeface="Arial"/>
              </a:rPr>
              <a:t>Model becomes overconfident in predicting &lt;EOS&gt;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8035167" y="4166363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6" name="Picture 255" descr="cause_steps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111" y="4259178"/>
            <a:ext cx="515736" cy="515639"/>
          </a:xfrm>
          <a:prstGeom prst="rect">
            <a:avLst/>
          </a:prstGeom>
        </p:spPr>
      </p:pic>
      <p:sp>
        <p:nvSpPr>
          <p:cNvPr id="257" name="TextBox 256"/>
          <p:cNvSpPr txBox="1"/>
          <p:nvPr/>
        </p:nvSpPr>
        <p:spPr>
          <a:xfrm>
            <a:off x="8757197" y="4238553"/>
            <a:ext cx="2578680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35359"/>
                </a:solidFill>
                <a:latin typeface="Microsoft YaHei"/>
              </a:rPr>
              <a:t>训练步数不足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757197" y="4465434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35359"/>
                </a:solidFill>
                <a:latin typeface="Arial"/>
              </a:rPr>
              <a:t>Limited training steps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757197" y="4682003"/>
            <a:ext cx="2578680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E6B72"/>
                </a:solidFill>
                <a:latin typeface="Microsoft YaHei"/>
              </a:rPr>
              <a:t>模型尚未充分学习长程依赖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757197" y="4857320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466A6E"/>
                </a:solidFill>
                <a:latin typeface="Arial"/>
              </a:rPr>
              <a:t>Model not fully trained to capture long-range dependencies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8035167" y="5135765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2" name="Picture 261" descr="cause_length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6111" y="5228580"/>
            <a:ext cx="515736" cy="515639"/>
          </a:xfrm>
          <a:prstGeom prst="rect">
            <a:avLst/>
          </a:prstGeom>
        </p:spPr>
      </p:pic>
      <p:sp>
        <p:nvSpPr>
          <p:cNvPr id="263" name="TextBox 262"/>
          <p:cNvSpPr txBox="1"/>
          <p:nvPr/>
        </p:nvSpPr>
        <p:spPr>
          <a:xfrm>
            <a:off x="8757197" y="5207954"/>
            <a:ext cx="2578680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35359"/>
                </a:solidFill>
                <a:latin typeface="Microsoft YaHei"/>
              </a:rPr>
              <a:t>长度控制能力较弱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757197" y="5434836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35359"/>
                </a:solidFill>
                <a:latin typeface="Arial"/>
              </a:rPr>
              <a:t>Weak length control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757197" y="5651404"/>
            <a:ext cx="2578680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E6B72"/>
                </a:solidFill>
                <a:latin typeface="Microsoft YaHei"/>
              </a:rPr>
              <a:t>缺乏显式的长度约束或训练目标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757197" y="5826721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466A6E"/>
                </a:solidFill>
                <a:latin typeface="Arial"/>
              </a:rPr>
              <a:t>No explicit length constraints or training objectives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1206822" y="5950475"/>
            <a:ext cx="6591106" cy="639392"/>
          </a:xfrm>
          <a:prstGeom prst="roundRect">
            <a:avLst/>
          </a:prstGeom>
          <a:solidFill>
            <a:srgbClr val="FFF3F4"/>
          </a:solidFill>
          <a:ln w="11430">
            <a:solidFill>
              <a:srgbClr val="F8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8" name="Picture 267" descr="troph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654" y="5971100"/>
            <a:ext cx="670456" cy="608454"/>
          </a:xfrm>
          <a:prstGeom prst="rect">
            <a:avLst/>
          </a:prstGeom>
        </p:spPr>
      </p:pic>
      <p:sp>
        <p:nvSpPr>
          <p:cNvPr id="269" name="TextBox 268"/>
          <p:cNvSpPr txBox="1"/>
          <p:nvPr/>
        </p:nvSpPr>
        <p:spPr>
          <a:xfrm>
            <a:off x="2269238" y="6074228"/>
            <a:ext cx="520893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40" b="1">
                <a:solidFill>
                  <a:srgbClr val="EA1454"/>
                </a:solidFill>
                <a:latin typeface="Microsoft YaHei"/>
              </a:rPr>
              <a:t>当前瓶颈不在工程跑通，而在生成质量控制。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269238" y="6342360"/>
            <a:ext cx="5312081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EA1454"/>
                </a:solidFill>
                <a:latin typeface="Arial"/>
              </a:rPr>
              <a:t>The bottleneck has shifted from pipeline execution to generation quality control.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1294619" y="6517678"/>
            <a:ext cx="61888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0">
                <a:solidFill>
                  <a:srgbClr val="035359"/>
                </a:solidFill>
                <a:latin typeface="Arial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93820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9_ex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9700" y="147220"/>
            <a:ext cx="6980680" cy="1042808"/>
          </a:xfrm>
          <a:prstGeom prst="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108" y="245366"/>
            <a:ext cx="6800979" cy="417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80" b="1">
                <a:solidFill>
                  <a:srgbClr val="025057"/>
                </a:solidFill>
                <a:latin typeface="Microsoft YaHei"/>
              </a:rPr>
              <a:t>下一步实验设计  /  Next-stage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931" y="723831"/>
            <a:ext cx="5391020" cy="233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A696F"/>
                </a:solidFill>
                <a:latin typeface="Microsoft YaHei"/>
              </a:rPr>
              <a:t>深化模型验证与功能分析，进一步回答 RQ1–RQ3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931" y="969198"/>
            <a:ext cx="6690394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0A696F"/>
                </a:solidFill>
                <a:latin typeface="Arial"/>
              </a:rPr>
              <a:t>Further experiments to validate models and analyze functionality, towards answering RQ1–RQ3.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60380" y="539806"/>
            <a:ext cx="2875210" cy="539806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C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26258" y="662490"/>
            <a:ext cx="345578" cy="306708"/>
          </a:xfrm>
          <a:prstGeom prst="ellipse">
            <a:avLst/>
          </a:prstGeom>
          <a:solidFill>
            <a:srgbClr val="DEF5ED"/>
          </a:solidFill>
          <a:ln>
            <a:solidFill>
              <a:srgbClr val="DE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26258" y="625685"/>
            <a:ext cx="345578" cy="306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775F"/>
                </a:solidFill>
                <a:latin typeface="Arial"/>
              </a:rPr>
              <a:t>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0952" y="650221"/>
            <a:ext cx="2073469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1">
                <a:solidFill>
                  <a:srgbClr val="025057"/>
                </a:solidFill>
                <a:latin typeface="Arial"/>
              </a:rPr>
              <a:t>Towards answering RQ1–RQ3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952" y="846515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0A696F"/>
                </a:solidFill>
                <a:latin typeface="Microsoft YaHei"/>
              </a:rPr>
              <a:t>迈向回答 RQ1–RQ3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9700" y="1251370"/>
            <a:ext cx="5874829" cy="2613155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2761" y="1251370"/>
            <a:ext cx="5902476" cy="2613155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9700" y="3987209"/>
            <a:ext cx="5874829" cy="2625423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2761" y="3987209"/>
            <a:ext cx="5902476" cy="2625423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0285" y="1361785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285" y="1447663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6303346" y="1361785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3346" y="1447663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290285" y="4097624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0285" y="4183502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6303346" y="4097624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3346" y="4183502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619" y="1386322"/>
            <a:ext cx="4699863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1">
                <a:solidFill>
                  <a:srgbClr val="025057"/>
                </a:solidFill>
                <a:latin typeface="Microsoft YaHei"/>
              </a:rPr>
              <a:t>HMMER 家族谱验证  /  HMMER Family-Profile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619" y="1668493"/>
            <a:ext cx="4008707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1">
                <a:solidFill>
                  <a:srgbClr val="0A696F"/>
                </a:solidFill>
                <a:latin typeface="Microsoft YaHei"/>
              </a:rPr>
              <a:t>使用 HMMER 评估生成序列的生物学有效性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619" y="1877055"/>
            <a:ext cx="3732244" cy="343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36A6D"/>
                </a:solidFill>
                <a:latin typeface="Arial"/>
              </a:rPr>
              <a:t>Use HMMER to quantify the biological validity
of generated sequences.</a:t>
            </a:r>
          </a:p>
        </p:txBody>
      </p:sp>
      <p:sp>
        <p:nvSpPr>
          <p:cNvPr id="27" name="Oval 26"/>
          <p:cNvSpPr/>
          <p:nvPr/>
        </p:nvSpPr>
        <p:spPr>
          <a:xfrm>
            <a:off x="428516" y="2355520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8516" y="2343252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033" y="2343252"/>
            <a:ext cx="2833741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比对 Pfam/自建 GvpA HMM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033" y="2539545"/>
            <a:ext cx="2833741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Search against Pfam / custom GvpA HMM profile</a:t>
            </a:r>
          </a:p>
        </p:txBody>
      </p:sp>
      <p:sp>
        <p:nvSpPr>
          <p:cNvPr id="31" name="Oval 30"/>
          <p:cNvSpPr/>
          <p:nvPr/>
        </p:nvSpPr>
        <p:spPr>
          <a:xfrm>
            <a:off x="428516" y="2907595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516" y="2895327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033" y="2895327"/>
            <a:ext cx="2833741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统计命中率、E-value、覆盖度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033" y="3091620"/>
            <a:ext cx="2833741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Evaluate hit rate, E-value and coverage</a:t>
            </a:r>
          </a:p>
        </p:txBody>
      </p:sp>
      <p:sp>
        <p:nvSpPr>
          <p:cNvPr id="35" name="Oval 34"/>
          <p:cNvSpPr/>
          <p:nvPr/>
        </p:nvSpPr>
        <p:spPr>
          <a:xfrm>
            <a:off x="428516" y="3459670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8516" y="3447402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033" y="3447402"/>
            <a:ext cx="2833741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与真实序列分布进行对比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033" y="3643695"/>
            <a:ext cx="2833741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Compare with real sequence distribution</a:t>
            </a:r>
          </a:p>
        </p:txBody>
      </p:sp>
      <p:pic>
        <p:nvPicPr>
          <p:cNvPr id="39" name="Picture 38" descr="hmm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843" y="2073348"/>
            <a:ext cx="2543455" cy="172983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94503" y="1386322"/>
            <a:ext cx="4768979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25057"/>
                </a:solidFill>
                <a:latin typeface="Microsoft YaHei"/>
              </a:rPr>
              <a:t>ESM2 嵌入与分布分析  /  ESM2 Embeddings &amp; Distribution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4503" y="1668493"/>
            <a:ext cx="4285169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A696F"/>
                </a:solidFill>
                <a:latin typeface="Microsoft YaHei"/>
              </a:rPr>
              <a:t>用预训练蛋白语言模型分析生成序列的分布特征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4503" y="1877055"/>
            <a:ext cx="4216054" cy="343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436A6D"/>
                </a:solidFill>
                <a:latin typeface="Arial"/>
              </a:rPr>
              <a:t>Use ESM2 embeddings with UMAP/MMD to analyze
the distribution of generated sequences.</a:t>
            </a:r>
          </a:p>
        </p:txBody>
      </p:sp>
      <p:sp>
        <p:nvSpPr>
          <p:cNvPr id="43" name="Oval 42"/>
          <p:cNvSpPr/>
          <p:nvPr/>
        </p:nvSpPr>
        <p:spPr>
          <a:xfrm>
            <a:off x="6400108" y="2343252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108" y="2330983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8625" y="2330983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提取 ESM2 表示向量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8625" y="2527277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Extract ESM2 embeddings</a:t>
            </a:r>
          </a:p>
        </p:txBody>
      </p:sp>
      <p:sp>
        <p:nvSpPr>
          <p:cNvPr id="47" name="Oval 46"/>
          <p:cNvSpPr/>
          <p:nvPr/>
        </p:nvSpPr>
        <p:spPr>
          <a:xfrm>
            <a:off x="6400108" y="2735838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108" y="2723570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28625" y="2723570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UMAP 可视化聚类分布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8625" y="2919864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Visualize with UMAP</a:t>
            </a:r>
          </a:p>
        </p:txBody>
      </p:sp>
      <p:sp>
        <p:nvSpPr>
          <p:cNvPr id="51" name="Oval 50"/>
          <p:cNvSpPr/>
          <p:nvPr/>
        </p:nvSpPr>
        <p:spPr>
          <a:xfrm>
            <a:off x="6400108" y="3128425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108" y="3116157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28625" y="3116157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计算 MMD/距离评估分布差异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28625" y="3312450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Compute MMD or distance metrics</a:t>
            </a:r>
          </a:p>
        </p:txBody>
      </p:sp>
      <p:sp>
        <p:nvSpPr>
          <p:cNvPr id="55" name="Oval 54"/>
          <p:cNvSpPr/>
          <p:nvPr/>
        </p:nvSpPr>
        <p:spPr>
          <a:xfrm>
            <a:off x="6400108" y="3521012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108" y="3508744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8625" y="3508744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对比真实序列与生成序列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28625" y="3705037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Compare real vs. generated sequences</a:t>
            </a:r>
          </a:p>
        </p:txBody>
      </p:sp>
      <p:pic>
        <p:nvPicPr>
          <p:cNvPr id="59" name="Picture 58" descr="esm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741" y="2024275"/>
            <a:ext cx="3124027" cy="179117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67619" y="4134429"/>
            <a:ext cx="4354285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025057"/>
                </a:solidFill>
                <a:latin typeface="Microsoft YaHei"/>
              </a:rPr>
              <a:t>模型参数扫描  /  Model Parameter Sweep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619" y="4416601"/>
            <a:ext cx="359401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A696F"/>
                </a:solidFill>
                <a:latin typeface="Microsoft YaHei"/>
              </a:rPr>
              <a:t>系统探索关键超参数对生成质量的影响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7619" y="4625162"/>
            <a:ext cx="4008707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436A6D"/>
                </a:solidFill>
                <a:latin typeface="Arial"/>
              </a:rPr>
              <a:t>Systematically explore key hyperparameters for generation quality.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3224" y="4809187"/>
            <a:ext cx="2695510" cy="1558078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E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193142" y="4809187"/>
            <a:ext cx="2736979" cy="1558078"/>
          </a:xfrm>
          <a:prstGeom prst="roundRect">
            <a:avLst/>
          </a:prstGeom>
          <a:solidFill>
            <a:srgbClr val="FFF2EF"/>
          </a:solidFill>
          <a:ln w="10160">
            <a:solidFill>
              <a:srgbClr val="F7D1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lstm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94" y="4895066"/>
            <a:ext cx="552925" cy="4539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257904" y="4944139"/>
            <a:ext cx="1520544" cy="20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25057"/>
                </a:solidFill>
                <a:latin typeface="Microsoft YaHei"/>
              </a:rPr>
              <a:t>LSTM 参数扫描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7904" y="5164969"/>
            <a:ext cx="1631129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696F"/>
                </a:solidFill>
                <a:latin typeface="Arial"/>
              </a:rPr>
              <a:t>LSTM Parameter Sweep</a:t>
            </a:r>
          </a:p>
        </p:txBody>
      </p:sp>
      <p:pic>
        <p:nvPicPr>
          <p:cNvPr id="68" name="Picture 67" descr="vae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605" y="4895066"/>
            <a:ext cx="525278" cy="44166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133115" y="4944139"/>
            <a:ext cx="1520544" cy="20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650"/>
                </a:solidFill>
                <a:latin typeface="Microsoft YaHei"/>
              </a:rPr>
              <a:t>VAE 参数扫描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33115" y="5164969"/>
            <a:ext cx="1631129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E82650"/>
                </a:solidFill>
                <a:latin typeface="Arial"/>
              </a:rPr>
              <a:t>VAE Parameter Sweep</a:t>
            </a:r>
          </a:p>
        </p:txBody>
      </p:sp>
      <p:pic>
        <p:nvPicPr>
          <p:cNvPr id="71" name="Picture 70" descr="temp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571" y="5471677"/>
            <a:ext cx="304108" cy="35578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92027" y="5483946"/>
            <a:ext cx="939972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Temperature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027" y="5680239"/>
            <a:ext cx="85703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采样温度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741714" y="5447141"/>
            <a:ext cx="1188789" cy="331245"/>
          </a:xfrm>
          <a:prstGeom prst="roundRect">
            <a:avLst/>
          </a:prstGeom>
          <a:solidFill>
            <a:srgbClr val="E9F8F6"/>
          </a:solidFill>
          <a:ln>
            <a:solidFill>
              <a:srgbClr val="E9F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783183" y="5533019"/>
            <a:ext cx="110585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10" b="1">
                <a:solidFill>
                  <a:srgbClr val="025057"/>
                </a:solidFill>
                <a:latin typeface="Arial"/>
              </a:rPr>
              <a:t>0.5 / 0.7 / 1.0 / 1.5</a:t>
            </a:r>
          </a:p>
        </p:txBody>
      </p:sp>
      <p:pic>
        <p:nvPicPr>
          <p:cNvPr id="76" name="Picture 75" descr="topk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571" y="5950143"/>
            <a:ext cx="345578" cy="38031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92027" y="5962411"/>
            <a:ext cx="760272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Top-k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027" y="6158704"/>
            <a:ext cx="85703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前 k 采样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741714" y="5986948"/>
            <a:ext cx="1188789" cy="331245"/>
          </a:xfrm>
          <a:prstGeom prst="roundRect">
            <a:avLst/>
          </a:prstGeom>
          <a:solidFill>
            <a:srgbClr val="E9F8F6"/>
          </a:solidFill>
          <a:ln>
            <a:solidFill>
              <a:srgbClr val="E9F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97006" y="6072826"/>
            <a:ext cx="1078204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10" b="1">
                <a:solidFill>
                  <a:srgbClr val="025057"/>
                </a:solidFill>
                <a:latin typeface="Arial"/>
              </a:rPr>
              <a:t>k = 10 / 50 / 100</a:t>
            </a:r>
          </a:p>
        </p:txBody>
      </p:sp>
      <p:pic>
        <p:nvPicPr>
          <p:cNvPr id="81" name="Picture 80" descr="beta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4312" y="5471677"/>
            <a:ext cx="331755" cy="35578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953414" y="5483946"/>
            <a:ext cx="66351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Beta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53414" y="5680239"/>
            <a:ext cx="85703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KL 权重系数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47809" y="5447141"/>
            <a:ext cx="1216435" cy="331245"/>
          </a:xfrm>
          <a:prstGeom prst="roundRect">
            <a:avLst/>
          </a:prstGeom>
          <a:solidFill>
            <a:srgbClr val="FFE8E5"/>
          </a:solidFill>
          <a:ln>
            <a:solidFill>
              <a:srgbClr val="FF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89278" y="5533019"/>
            <a:ext cx="1133496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>
                <a:solidFill>
                  <a:srgbClr val="E82650"/>
                </a:solidFill>
                <a:latin typeface="Arial"/>
              </a:rPr>
              <a:t>β = 0.001 / 0.01 / 0.1</a:t>
            </a:r>
          </a:p>
        </p:txBody>
      </p:sp>
      <p:pic>
        <p:nvPicPr>
          <p:cNvPr id="86" name="Picture 85" descr="latent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4312" y="5950143"/>
            <a:ext cx="359401" cy="38031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953414" y="5962411"/>
            <a:ext cx="912326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Latent scale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53414" y="6158704"/>
            <a:ext cx="89850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潜变量缩放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47809" y="5986948"/>
            <a:ext cx="1216435" cy="331245"/>
          </a:xfrm>
          <a:prstGeom prst="roundRect">
            <a:avLst/>
          </a:prstGeom>
          <a:solidFill>
            <a:srgbClr val="FFE8E5"/>
          </a:solidFill>
          <a:ln>
            <a:solidFill>
              <a:srgbClr val="FF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603101" y="6072826"/>
            <a:ext cx="110585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82650"/>
                </a:solidFill>
                <a:latin typeface="Arial"/>
              </a:rPr>
              <a:t>0.5 / 1.0 / 2.0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94503" y="4134429"/>
            <a:ext cx="4727510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25057"/>
                </a:solidFill>
                <a:latin typeface="Microsoft YaHei"/>
              </a:rPr>
              <a:t>辅助预训练 + 下游微调  /  Auxiliary Pretraining + Fine-tuning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4503" y="4416601"/>
            <a:ext cx="4354285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1">
                <a:solidFill>
                  <a:srgbClr val="0A696F"/>
                </a:solidFill>
                <a:latin typeface="Microsoft YaHei"/>
              </a:rPr>
              <a:t>先进行通用蛋白序列预训练，再在蓝藻 GvpA 上进行任务微调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4503" y="4625162"/>
            <a:ext cx="4423401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Pretrain on large protein sequences, then fine-tune on cyanobacterial GvpA.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358639" y="4809187"/>
            <a:ext cx="2419047" cy="785173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E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94" descr="db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9224" y="4895066"/>
            <a:ext cx="483809" cy="429391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008326" y="4931871"/>
            <a:ext cx="1520544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>
                <a:solidFill>
                  <a:srgbClr val="025057"/>
                </a:solidFill>
                <a:latin typeface="Microsoft YaHei"/>
              </a:rPr>
              <a:t>1. 辅助预训练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08326" y="5140432"/>
            <a:ext cx="154819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0A696F"/>
                </a:solidFill>
                <a:latin typeface="Arial"/>
              </a:rPr>
              <a:t>Auxiliary Pretraining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08326" y="5324457"/>
            <a:ext cx="1589659" cy="26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36A6D"/>
                </a:solidFill>
                <a:latin typeface="Arial"/>
              </a:rPr>
              <a:t>Large-scale protein sequences
(UniRef / BFD)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575074" y="5594361"/>
            <a:ext cx="0" cy="196293"/>
          </a:xfrm>
          <a:prstGeom prst="line">
            <a:avLst/>
          </a:prstGeom>
          <a:ln w="19050">
            <a:solidFill>
              <a:srgbClr val="007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10800000">
            <a:off x="7492135" y="5717044"/>
            <a:ext cx="165877" cy="122683"/>
          </a:xfrm>
          <a:prstGeom prst="triangle">
            <a:avLst/>
          </a:prstGeom>
          <a:solidFill>
            <a:srgbClr val="00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6358639" y="5790654"/>
            <a:ext cx="2419047" cy="809710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E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" name="Picture 101" descr="gear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9224" y="5876533"/>
            <a:ext cx="511455" cy="46619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008326" y="5913338"/>
            <a:ext cx="1451428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>
                <a:solidFill>
                  <a:srgbClr val="025057"/>
                </a:solidFill>
                <a:latin typeface="Microsoft YaHei"/>
              </a:rPr>
              <a:t>2. 下游微调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08326" y="6121899"/>
            <a:ext cx="1451428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0A696F"/>
                </a:solidFill>
                <a:latin typeface="Arial"/>
              </a:rPr>
              <a:t>Fine-tuning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08326" y="6330461"/>
            <a:ext cx="1589659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36A6D"/>
                </a:solidFill>
                <a:latin typeface="Arial"/>
              </a:rPr>
              <a:t>Cyanobacterial GvpA dataset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915918" y="4809187"/>
            <a:ext cx="3013442" cy="1791177"/>
          </a:xfrm>
          <a:prstGeom prst="roundRect">
            <a:avLst/>
          </a:prstGeom>
          <a:solidFill>
            <a:srgbClr val="FAFCF8"/>
          </a:solidFill>
          <a:ln w="6350">
            <a:solidFill>
              <a:srgbClr val="F5F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9040326" y="5005481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040326" y="4993212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8843" y="4993212"/>
            <a:ext cx="2419047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025057"/>
                </a:solidFill>
                <a:latin typeface="Microsoft YaHei"/>
              </a:rPr>
              <a:t>利用大规模无监督数据学习通用表示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68843" y="5189506"/>
            <a:ext cx="2419047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436A6D"/>
                </a:solidFill>
                <a:latin typeface="Arial"/>
              </a:rPr>
              <a:t>Learn general protein representations
from large-scale data</a:t>
            </a:r>
          </a:p>
        </p:txBody>
      </p:sp>
      <p:sp>
        <p:nvSpPr>
          <p:cNvPr id="111" name="Oval 110"/>
          <p:cNvSpPr/>
          <p:nvPr/>
        </p:nvSpPr>
        <p:spPr>
          <a:xfrm>
            <a:off x="9040326" y="5680239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040326" y="5667971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8843" y="5667971"/>
            <a:ext cx="2419047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025057"/>
                </a:solidFill>
                <a:latin typeface="Microsoft YaHei"/>
              </a:rPr>
              <a:t>在 GvpA 数据集上进行任务微调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68843" y="5864264"/>
            <a:ext cx="2419047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436A6D"/>
                </a:solidFill>
                <a:latin typeface="Arial"/>
              </a:rPr>
              <a:t>Fine-tune on GvpA for conditional generation</a:t>
            </a:r>
          </a:p>
        </p:txBody>
      </p:sp>
      <p:sp>
        <p:nvSpPr>
          <p:cNvPr id="115" name="Oval 114"/>
          <p:cNvSpPr/>
          <p:nvPr/>
        </p:nvSpPr>
        <p:spPr>
          <a:xfrm>
            <a:off x="9040326" y="6269119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040326" y="6256851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68843" y="6256851"/>
            <a:ext cx="2419047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025057"/>
                </a:solidFill>
                <a:latin typeface="Microsoft YaHei"/>
              </a:rPr>
              <a:t>比较预训练前后生成质量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68843" y="6453144"/>
            <a:ext cx="2419047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436A6D"/>
                </a:solidFill>
                <a:latin typeface="Arial"/>
              </a:rPr>
              <a:t>Compare generation quality (w/ vs. w/o pretraining)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473196" y="6624901"/>
            <a:ext cx="594394" cy="171756"/>
          </a:xfrm>
          <a:prstGeom prst="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514666" y="6624901"/>
            <a:ext cx="525278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40" b="0">
                <a:solidFill>
                  <a:srgbClr val="025057"/>
                </a:solidFill>
                <a:latin typeface="Arial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89510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6072" y="289560"/>
            <a:ext cx="7272554" cy="1104900"/>
          </a:xfrm>
          <a:prstGeom prst="rect">
            <a:avLst/>
          </a:prstGeom>
          <a:solidFill>
            <a:srgbClr val="FFF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6994" y="365760"/>
            <a:ext cx="6244497" cy="381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015258"/>
                </a:solidFill>
                <a:latin typeface="Microsoft YaHei"/>
              </a:rPr>
              <a:t>总结与展望  /  Conclusions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994" y="883920"/>
            <a:ext cx="6016039" cy="2057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9696F"/>
                </a:solidFill>
                <a:latin typeface="Microsoft YaHei"/>
              </a:rPr>
              <a:t>生成可信的 GvpA 蛋白序列，推动从数据、模型到生物学应用的完整闭环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994" y="1135380"/>
            <a:ext cx="6853716" cy="1676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09696F"/>
                </a:solidFill>
                <a:latin typeface="Arial"/>
              </a:rPr>
              <a:t>Generate reliable GvpA protein sequences, toward a complete pipeline from data to biological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763" y="1447800"/>
            <a:ext cx="5650508" cy="4617720"/>
          </a:xfrm>
          <a:prstGeom prst="roundRect">
            <a:avLst/>
          </a:prstGeom>
          <a:solidFill>
            <a:srgbClr val="FEFEFA"/>
          </a:solidFill>
          <a:ln w="1143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8885" y="1447800"/>
            <a:ext cx="5894195" cy="4617720"/>
          </a:xfrm>
          <a:prstGeom prst="roundRect">
            <a:avLst/>
          </a:prstGeom>
          <a:solidFill>
            <a:srgbClr val="FEFEFA"/>
          </a:solidFill>
          <a:ln w="1143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451" y="1592580"/>
            <a:ext cx="2817638" cy="2209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15258"/>
                </a:solidFill>
                <a:latin typeface="Microsoft YaHei"/>
              </a:rPr>
              <a:t>主要结论  /  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342" y="1592580"/>
            <a:ext cx="3959924" cy="2209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015258"/>
                </a:solidFill>
                <a:latin typeface="Microsoft YaHei"/>
              </a:rPr>
              <a:t>未来工作路线图  /  Roadmap &amp; Remaining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068" y="1882139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4529" y="197358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3" y="1973580"/>
            <a:ext cx="624449" cy="6629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165131" y="2118360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5131" y="211074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200" y="1981199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构建了高质量的蓝藻 GvpA 数据集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9200" y="218694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Built a trusted high-quality GvpA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9200" y="2415540"/>
            <a:ext cx="3883772" cy="1447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3686C"/>
                </a:solidFill>
                <a:latin typeface="Microsoft YaHei"/>
              </a:rPr>
              <a:t>165 个物种、覆盖 5+ 主要菌属，严格的数据过滤与去重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9200" y="2575560"/>
            <a:ext cx="3959924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87E7F"/>
                </a:solidFill>
                <a:latin typeface="Arial"/>
              </a:rPr>
              <a:t>165 species, covering 5+ major genera, with strict filtering and deduplication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068" y="2918460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4529" y="300990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83" y="3009900"/>
            <a:ext cx="624449" cy="66294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165131" y="3154679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5131" y="314706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9200" y="3017520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建立了基线模型与 LSTM / VAE 生成流程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9200" y="322326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Established baseline models and an LSTM/VAE generation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9200" y="3451860"/>
            <a:ext cx="3883772" cy="1447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3686C"/>
                </a:solidFill>
                <a:latin typeface="Microsoft YaHei"/>
              </a:rPr>
              <a:t>从序列数据到生成与评估的完整流程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9200" y="3611879"/>
            <a:ext cx="3959924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87E7F"/>
                </a:solidFill>
                <a:latin typeface="Arial"/>
              </a:rPr>
              <a:t>A complete pipeline from sequence data to generation and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068" y="3970020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64529" y="406146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on_e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83" y="4061460"/>
            <a:ext cx="624449" cy="66294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1165131" y="4206240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65131" y="419862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9200" y="4069080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构建了统一的生成序列评估体系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9200" y="427482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Created a unified evaluator for generated sequences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9200" y="4503420"/>
            <a:ext cx="3883772" cy="1447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3686C"/>
                </a:solidFill>
                <a:latin typeface="Microsoft YaHei"/>
              </a:rPr>
              <a:t>多维度评估：序列相似性、结构与功能潜力、多样性等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9200" y="4663440"/>
            <a:ext cx="3959924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87E7F"/>
                </a:solidFill>
                <a:latin typeface="Arial"/>
              </a:rPr>
              <a:t>Multi-dimensional evaluation: similarity, structure/function potential, diversity, etc.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068" y="5036820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64529" y="512826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con_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83" y="5128260"/>
            <a:ext cx="624449" cy="66294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1165131" y="5273040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5131" y="526542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99200" y="5135880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发现了早停（Early-EOS）与长度控制等关键问题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99200" y="534162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Identified key issues such as early-EOS and length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9200" y="5570220"/>
            <a:ext cx="3883772" cy="1447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3686C"/>
                </a:solidFill>
                <a:latin typeface="Microsoft YaHei"/>
              </a:rPr>
              <a:t>生成序列存在过早终止、长度分布偏差，需要进一步方法改进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9200" y="5730240"/>
            <a:ext cx="3959924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87E7F"/>
                </a:solidFill>
                <a:latin typeface="Arial"/>
              </a:rPr>
              <a:t>Generated sequences show premature terminations and length bias, requiring further improvements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96801" y="1920240"/>
            <a:ext cx="0" cy="3970020"/>
          </a:xfrm>
          <a:prstGeom prst="line">
            <a:avLst/>
          </a:prstGeom>
          <a:ln w="25400">
            <a:solidFill>
              <a:srgbClr val="015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282573" y="2148840"/>
            <a:ext cx="213226" cy="21336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6495799" y="2255520"/>
            <a:ext cx="426454" cy="0"/>
          </a:xfrm>
          <a:prstGeom prst="line">
            <a:avLst/>
          </a:prstGeom>
          <a:ln w="19050">
            <a:solidFill>
              <a:srgbClr val="0078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127864" y="1920240"/>
            <a:ext cx="4721448" cy="739140"/>
          </a:xfrm>
          <a:prstGeom prst="roundRect">
            <a:avLst/>
          </a:prstGeom>
          <a:solidFill>
            <a:srgbClr val="F8FCF6"/>
          </a:solidFill>
          <a:ln w="1016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838485" y="2019300"/>
            <a:ext cx="449299" cy="44958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38485" y="212598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5320" y="2049780"/>
            <a:ext cx="3411627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015258"/>
                </a:solidFill>
                <a:latin typeface="Microsoft YaHei"/>
              </a:rPr>
              <a:t>扩展数据与多样性  /  Expand Data &amp; Diversity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5320" y="2263140"/>
            <a:ext cx="3388781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9696F"/>
                </a:solidFill>
                <a:latin typeface="Microsoft YaHei"/>
              </a:rPr>
              <a:t>引入更多物种与环境来源序列，提升数据多样性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5320" y="2430780"/>
            <a:ext cx="3426858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43686C"/>
                </a:solidFill>
                <a:latin typeface="Arial"/>
              </a:rPr>
              <a:t>Incorporate more species and environmental sequences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1034483" y="207264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163942" y="2133600"/>
            <a:ext cx="555912" cy="3429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90" b="1">
                <a:solidFill>
                  <a:srgbClr val="015258"/>
                </a:solidFill>
                <a:latin typeface="Arial"/>
              </a:rPr>
              <a:t>2024.12
– 2025.01</a:t>
            </a:r>
          </a:p>
        </p:txBody>
      </p:sp>
      <p:sp>
        <p:nvSpPr>
          <p:cNvPr id="58" name="Oval 57"/>
          <p:cNvSpPr/>
          <p:nvPr/>
        </p:nvSpPr>
        <p:spPr>
          <a:xfrm>
            <a:off x="6282573" y="2994660"/>
            <a:ext cx="213226" cy="21336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6495799" y="3101340"/>
            <a:ext cx="426454" cy="0"/>
          </a:xfrm>
          <a:prstGeom prst="line">
            <a:avLst/>
          </a:prstGeom>
          <a:ln w="19050">
            <a:solidFill>
              <a:srgbClr val="F86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127864" y="2766060"/>
            <a:ext cx="4721448" cy="739140"/>
          </a:xfrm>
          <a:prstGeom prst="roundRect">
            <a:avLst/>
          </a:prstGeom>
          <a:solidFill>
            <a:srgbClr val="FFF6F3"/>
          </a:solidFill>
          <a:ln w="10160">
            <a:solidFill>
              <a:srgbClr val="F7CF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838485" y="2865120"/>
            <a:ext cx="449299" cy="44958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38485" y="297180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55320" y="2895600"/>
            <a:ext cx="3411627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1">
                <a:solidFill>
                  <a:srgbClr val="F8604C"/>
                </a:solidFill>
                <a:latin typeface="Microsoft YaHei"/>
              </a:rPr>
              <a:t>方法改进与对比  /  Method Improvement &amp; Comparison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5320" y="3108960"/>
            <a:ext cx="3388781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9696F"/>
                </a:solidFill>
                <a:latin typeface="Microsoft YaHei"/>
              </a:rPr>
              <a:t>尝试更多生成模型（如 Diffusion、Transformer）并进行系统对比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5320" y="3276600"/>
            <a:ext cx="3426858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43686C"/>
                </a:solidFill>
                <a:latin typeface="Arial"/>
              </a:rPr>
              <a:t>Explore additional generative models (e.g., Diffusion, Transformer) and compare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034483" y="291846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1163942" y="2979420"/>
            <a:ext cx="555912" cy="3429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90" b="1">
                <a:solidFill>
                  <a:srgbClr val="015258"/>
                </a:solidFill>
                <a:latin typeface="Arial"/>
              </a:rPr>
              <a:t>2025.02
– 2025.03</a:t>
            </a:r>
          </a:p>
        </p:txBody>
      </p:sp>
      <p:sp>
        <p:nvSpPr>
          <p:cNvPr id="68" name="Oval 67"/>
          <p:cNvSpPr/>
          <p:nvPr/>
        </p:nvSpPr>
        <p:spPr>
          <a:xfrm>
            <a:off x="6282573" y="3840480"/>
            <a:ext cx="213226" cy="21336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6495799" y="3947160"/>
            <a:ext cx="426454" cy="0"/>
          </a:xfrm>
          <a:prstGeom prst="line">
            <a:avLst/>
          </a:prstGeom>
          <a:ln w="19050">
            <a:solidFill>
              <a:srgbClr val="0078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7127864" y="3611879"/>
            <a:ext cx="4721448" cy="739140"/>
          </a:xfrm>
          <a:prstGeom prst="roundRect">
            <a:avLst/>
          </a:prstGeom>
          <a:solidFill>
            <a:srgbClr val="F8FCF6"/>
          </a:solidFill>
          <a:ln w="1016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838485" y="3710940"/>
            <a:ext cx="449299" cy="44958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38485" y="381762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5320" y="3741420"/>
            <a:ext cx="3411627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015258"/>
                </a:solidFill>
                <a:latin typeface="Microsoft YaHei"/>
              </a:rPr>
              <a:t>权衡分析  /  Trade-off Analysis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5320" y="3954780"/>
            <a:ext cx="3388781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9696F"/>
                </a:solidFill>
                <a:latin typeface="Microsoft YaHei"/>
              </a:rPr>
              <a:t>分析序列多样性、功能潜力与保守性的平衡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5320" y="4122419"/>
            <a:ext cx="3426858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43686C"/>
                </a:solidFill>
                <a:latin typeface="Arial"/>
              </a:rPr>
              <a:t>Analyze the trade-off between diversity, functionality and conservation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1034483" y="3764279"/>
            <a:ext cx="0" cy="441961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1163942" y="3825240"/>
            <a:ext cx="555912" cy="3429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90" b="1">
                <a:solidFill>
                  <a:srgbClr val="015258"/>
                </a:solidFill>
                <a:latin typeface="Arial"/>
              </a:rPr>
              <a:t>2025.04
– 2025.05</a:t>
            </a:r>
          </a:p>
        </p:txBody>
      </p:sp>
      <p:sp>
        <p:nvSpPr>
          <p:cNvPr id="78" name="Oval 77"/>
          <p:cNvSpPr/>
          <p:nvPr/>
        </p:nvSpPr>
        <p:spPr>
          <a:xfrm>
            <a:off x="6282573" y="4686300"/>
            <a:ext cx="213226" cy="21336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/>
          <p:cNvCxnSpPr/>
          <p:nvPr/>
        </p:nvCxnSpPr>
        <p:spPr>
          <a:xfrm>
            <a:off x="6495799" y="4792980"/>
            <a:ext cx="426454" cy="0"/>
          </a:xfrm>
          <a:prstGeom prst="line">
            <a:avLst/>
          </a:prstGeom>
          <a:ln w="19050">
            <a:solidFill>
              <a:srgbClr val="F86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127864" y="4457700"/>
            <a:ext cx="4721448" cy="739140"/>
          </a:xfrm>
          <a:prstGeom prst="roundRect">
            <a:avLst/>
          </a:prstGeom>
          <a:solidFill>
            <a:srgbClr val="FFF6F3"/>
          </a:solidFill>
          <a:ln w="10160">
            <a:solidFill>
              <a:srgbClr val="F7CF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838485" y="4556760"/>
            <a:ext cx="449299" cy="44958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38485" y="466344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5320" y="4587240"/>
            <a:ext cx="3411627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1">
                <a:solidFill>
                  <a:srgbClr val="F8604C"/>
                </a:solidFill>
                <a:latin typeface="Microsoft YaHei"/>
              </a:rPr>
              <a:t>嵌入空间验证  /  Embedding-space Validation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55320" y="4800600"/>
            <a:ext cx="3388781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9696F"/>
                </a:solidFill>
                <a:latin typeface="Microsoft YaHei"/>
              </a:rPr>
              <a:t>在 ESM2 嵌入空间中验证生成序列的分布与合理性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55320" y="4968240"/>
            <a:ext cx="3426858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43686C"/>
                </a:solidFill>
                <a:latin typeface="Arial"/>
              </a:rPr>
              <a:t>Validate generated sequences in ESM2 embedding space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1034483" y="461010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163942" y="4671060"/>
            <a:ext cx="555912" cy="3429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90" b="1">
                <a:solidFill>
                  <a:srgbClr val="015258"/>
                </a:solidFill>
                <a:latin typeface="Arial"/>
              </a:rPr>
              <a:t>2025.06
– 2025.07</a:t>
            </a:r>
          </a:p>
        </p:txBody>
      </p:sp>
      <p:sp>
        <p:nvSpPr>
          <p:cNvPr id="88" name="Oval 87"/>
          <p:cNvSpPr/>
          <p:nvPr/>
        </p:nvSpPr>
        <p:spPr>
          <a:xfrm>
            <a:off x="6282573" y="5532120"/>
            <a:ext cx="213226" cy="21336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" name="Connector 88"/>
          <p:cNvCxnSpPr/>
          <p:nvPr/>
        </p:nvCxnSpPr>
        <p:spPr>
          <a:xfrm>
            <a:off x="6495799" y="5638800"/>
            <a:ext cx="426454" cy="0"/>
          </a:xfrm>
          <a:prstGeom prst="line">
            <a:avLst/>
          </a:prstGeom>
          <a:ln w="19050">
            <a:solidFill>
              <a:srgbClr val="0078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7127864" y="5303520"/>
            <a:ext cx="4721448" cy="739140"/>
          </a:xfrm>
          <a:prstGeom prst="roundRect">
            <a:avLst/>
          </a:prstGeom>
          <a:solidFill>
            <a:srgbClr val="F8FCF6"/>
          </a:solidFill>
          <a:ln w="1016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6838485" y="5402580"/>
            <a:ext cx="449299" cy="44958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838485" y="550926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5320" y="5433060"/>
            <a:ext cx="3411627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015258"/>
                </a:solidFill>
                <a:latin typeface="Microsoft YaHei"/>
              </a:rPr>
              <a:t>最终报告  /  Final Report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55320" y="5646420"/>
            <a:ext cx="3388781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9696F"/>
                </a:solidFill>
                <a:latin typeface="Microsoft YaHei"/>
              </a:rPr>
              <a:t>整合实验结果，完成论文与项目总结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55320" y="5814060"/>
            <a:ext cx="3426858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>
                <a:solidFill>
                  <a:srgbClr val="43686C"/>
                </a:solidFill>
                <a:latin typeface="Arial"/>
              </a:rPr>
              <a:t>Integrate results and complete the final report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1034483" y="545592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1163942" y="5516880"/>
            <a:ext cx="555912" cy="3429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90" b="1">
                <a:solidFill>
                  <a:srgbClr val="015258"/>
                </a:solidFill>
                <a:latin typeface="Arial"/>
              </a:rPr>
              <a:t>2025.08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751505" y="6103620"/>
            <a:ext cx="6396801" cy="624840"/>
          </a:xfrm>
          <a:prstGeom prst="roundRect">
            <a:avLst/>
          </a:prstGeom>
          <a:solidFill>
            <a:srgbClr val="FFFFFB"/>
          </a:solidFill>
          <a:ln w="8890">
            <a:solidFill>
              <a:srgbClr val="F0E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865733" y="6141720"/>
            <a:ext cx="563527" cy="563880"/>
          </a:xfrm>
          <a:prstGeom prst="ellipse">
            <a:avLst/>
          </a:prstGeom>
          <a:solidFill>
            <a:srgbClr val="F7FCF5"/>
          </a:solidFill>
          <a:ln w="10160">
            <a:solidFill>
              <a:srgbClr val="F7F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0" name="Picture 99" descr="fl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657" y="6141720"/>
            <a:ext cx="548297" cy="61722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2672949" y="6210300"/>
            <a:ext cx="4797601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F8604C"/>
                </a:solidFill>
                <a:latin typeface="Microsoft YaHei"/>
              </a:rPr>
              <a:t>从可信数据到可靠生成  /  From curated sequences to reliable generation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72949" y="6431280"/>
            <a:ext cx="4873753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09696F"/>
                </a:solidFill>
                <a:latin typeface="Microsoft YaHei"/>
              </a:rPr>
              <a:t>利用计算生物学与生成模型，探索蓝藻 GvpA 蛋白的设计与应用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72949" y="6583680"/>
            <a:ext cx="5026058" cy="121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>
                <a:solidFill>
                  <a:srgbClr val="43686C"/>
                </a:solidFill>
                <a:latin typeface="Arial"/>
              </a:rPr>
              <a:t>Leveraging computational biology and generative models for the design and applications of cyanobacterial GvpA proteins.</a:t>
            </a:r>
          </a:p>
        </p:txBody>
      </p:sp>
      <p:pic>
        <p:nvPicPr>
          <p:cNvPr id="104" name="Picture 103" descr="handwri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6726" y="5593080"/>
            <a:ext cx="1576354" cy="1059180"/>
          </a:xfrm>
          <a:prstGeom prst="rect">
            <a:avLst/>
          </a:prstGeom>
        </p:spPr>
      </p:pic>
      <p:sp>
        <p:nvSpPr>
          <p:cNvPr id="105" name="Rectangle 104"/>
          <p:cNvSpPr/>
          <p:nvPr/>
        </p:nvSpPr>
        <p:spPr>
          <a:xfrm>
            <a:off x="11521858" y="6629400"/>
            <a:ext cx="533066" cy="167640"/>
          </a:xfrm>
          <a:prstGeom prst="rect">
            <a:avLst/>
          </a:prstGeom>
          <a:solidFill>
            <a:srgbClr val="FFF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1567549" y="6644640"/>
            <a:ext cx="441683" cy="1295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15258"/>
                </a:solidFill>
                <a:latin typeface="Arial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59029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1918</Words>
  <Application>Microsoft Office PowerPoint</Application>
  <PresentationFormat>宽屏</PresentationFormat>
  <Paragraphs>556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思宇 卢</cp:lastModifiedBy>
  <cp:revision>5</cp:revision>
  <dcterms:created xsi:type="dcterms:W3CDTF">2013-01-27T09:14:16Z</dcterms:created>
  <dcterms:modified xsi:type="dcterms:W3CDTF">2026-09-11T17:34:12Z</dcterms:modified>
  <cp:category/>
</cp:coreProperties>
</file>